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20" r:id="rId2"/>
    <p:sldId id="327" r:id="rId3"/>
    <p:sldId id="288" r:id="rId4"/>
    <p:sldId id="323" r:id="rId5"/>
    <p:sldId id="287" r:id="rId6"/>
    <p:sldId id="289" r:id="rId7"/>
    <p:sldId id="290" r:id="rId8"/>
    <p:sldId id="281" r:id="rId9"/>
    <p:sldId id="260" r:id="rId10"/>
    <p:sldId id="262" r:id="rId11"/>
    <p:sldId id="318" r:id="rId12"/>
    <p:sldId id="312" r:id="rId13"/>
    <p:sldId id="311" r:id="rId14"/>
    <p:sldId id="342" r:id="rId15"/>
    <p:sldId id="340" r:id="rId16"/>
    <p:sldId id="343" r:id="rId17"/>
    <p:sldId id="330" r:id="rId18"/>
    <p:sldId id="346" r:id="rId19"/>
    <p:sldId id="349" r:id="rId20"/>
    <p:sldId id="358" r:id="rId21"/>
    <p:sldId id="348" r:id="rId22"/>
    <p:sldId id="350" r:id="rId23"/>
    <p:sldId id="351" r:id="rId24"/>
    <p:sldId id="353" r:id="rId25"/>
    <p:sldId id="355" r:id="rId26"/>
    <p:sldId id="360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7AF6BEA-F8C3-4B91-8510-4178AD440A98}">
          <p14:sldIdLst>
            <p14:sldId id="320"/>
            <p14:sldId id="327"/>
            <p14:sldId id="288"/>
            <p14:sldId id="323"/>
            <p14:sldId id="287"/>
            <p14:sldId id="289"/>
            <p14:sldId id="290"/>
            <p14:sldId id="281"/>
            <p14:sldId id="260"/>
            <p14:sldId id="262"/>
            <p14:sldId id="318"/>
            <p14:sldId id="312"/>
            <p14:sldId id="311"/>
            <p14:sldId id="342"/>
            <p14:sldId id="340"/>
            <p14:sldId id="343"/>
            <p14:sldId id="330"/>
            <p14:sldId id="346"/>
            <p14:sldId id="349"/>
            <p14:sldId id="358"/>
            <p14:sldId id="348"/>
            <p14:sldId id="350"/>
            <p14:sldId id="351"/>
            <p14:sldId id="353"/>
            <p14:sldId id="355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2E2A"/>
    <a:srgbClr val="F2E6D6"/>
    <a:srgbClr val="C2B9AD"/>
    <a:srgbClr val="C87A5A"/>
    <a:srgbClr val="D69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48" autoAdjust="0"/>
  </p:normalViewPr>
  <p:slideViewPr>
    <p:cSldViewPr snapToGrid="0">
      <p:cViewPr varScale="1">
        <p:scale>
          <a:sx n="80" d="100"/>
          <a:sy n="80" d="100"/>
        </p:scale>
        <p:origin x="221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01C72-8B44-4D79-AFDF-7D63FC41BCF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A780F-83DC-4DDB-ACDE-6D7FEC2161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9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"/>
          <p:cNvSpPr>
            <a:spLocks noGrp="1" noChangeArrowheads="1"/>
          </p:cNvSpPr>
          <p:nvPr>
            <p:ph type="ftr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r>
              <a:rPr lang="ru-RU" altLang="ru-RU">
                <a:solidFill>
                  <a:srgbClr val="000000"/>
                </a:solidFill>
                <a:latin typeface="Times New Roman Cyr" charset="0"/>
              </a:rPr>
              <a:t>06.02.02    About VMK faculty</a:t>
            </a:r>
          </a:p>
        </p:txBody>
      </p:sp>
      <p:sp>
        <p:nvSpPr>
          <p:cNvPr id="21507" name="Rectangle 20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fld id="{27D87645-DD93-4C72-9A9A-C0000FE27758}" type="slidenum">
              <a:rPr lang="ru-RU" altLang="ru-RU">
                <a:solidFill>
                  <a:srgbClr val="000000"/>
                </a:solidFill>
                <a:latin typeface="Times New Roman Cyr" charset="0"/>
              </a:rPr>
              <a:t>1</a:t>
            </a:fld>
            <a:endParaRPr lang="ru-RU" altLang="ru-RU">
              <a:solidFill>
                <a:srgbClr val="000000"/>
              </a:solidFill>
              <a:latin typeface="Times New Roman Cyr" charset="0"/>
            </a:endParaRPr>
          </a:p>
        </p:txBody>
      </p:sp>
      <p:sp>
        <p:nvSpPr>
          <p:cNvPr id="21508" name="Text Box 1"/>
          <p:cNvSpPr txBox="1">
            <a:spLocks noChangeArrowheads="1"/>
          </p:cNvSpPr>
          <p:nvPr/>
        </p:nvSpPr>
        <p:spPr bwMode="auto">
          <a:xfrm>
            <a:off x="0" y="8686800"/>
            <a:ext cx="2960688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09" name="Text Box 2"/>
          <p:cNvSpPr txBox="1">
            <a:spLocks noChangeArrowheads="1"/>
          </p:cNvSpPr>
          <p:nvPr/>
        </p:nvSpPr>
        <p:spPr bwMode="auto">
          <a:xfrm>
            <a:off x="3886200" y="8686800"/>
            <a:ext cx="2960688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BFC2B043-341F-4FE6-8F59-FFCC3D6E6F2C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1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0" name="Text Box 3"/>
          <p:cNvSpPr txBox="1">
            <a:spLocks noChangeArrowheads="1"/>
          </p:cNvSpPr>
          <p:nvPr/>
        </p:nvSpPr>
        <p:spPr bwMode="auto">
          <a:xfrm>
            <a:off x="0" y="8686800"/>
            <a:ext cx="2967038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3886200" y="8686800"/>
            <a:ext cx="2967038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9FBA2EA1-59FB-47E3-AF77-F63A32EF3879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1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2" name="Text Box 5"/>
          <p:cNvSpPr txBox="1">
            <a:spLocks noChangeArrowheads="1"/>
          </p:cNvSpPr>
          <p:nvPr/>
        </p:nvSpPr>
        <p:spPr bwMode="auto">
          <a:xfrm>
            <a:off x="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13" name="Text Box 6"/>
          <p:cNvSpPr txBox="1">
            <a:spLocks noChangeArrowheads="1"/>
          </p:cNvSpPr>
          <p:nvPr/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0DE57C3F-E652-49D6-96DD-2B4D87A2A26C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1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4" name="Rectangle 7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15" name="Text Box 8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4319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9"/>
          <p:cNvSpPr>
            <a:spLocks noGrp="1" noChangeArrowheads="1"/>
          </p:cNvSpPr>
          <p:nvPr>
            <p:ph type="ftr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r>
              <a:rPr lang="ru-RU" altLang="ru-RU">
                <a:solidFill>
                  <a:srgbClr val="000000"/>
                </a:solidFill>
                <a:latin typeface="Times New Roman Cyr" charset="0"/>
              </a:rPr>
              <a:t>06.02.02    About VMK faculty</a:t>
            </a:r>
          </a:p>
        </p:txBody>
      </p:sp>
      <p:sp>
        <p:nvSpPr>
          <p:cNvPr id="21507" name="Rectangle 20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fld id="{27D87645-DD93-4C72-9A9A-C0000FE27758}" type="slidenum">
              <a:rPr lang="ru-RU" altLang="ru-RU">
                <a:solidFill>
                  <a:srgbClr val="000000"/>
                </a:solidFill>
                <a:latin typeface="Times New Roman Cyr" charset="0"/>
              </a:rPr>
              <a:t>2</a:t>
            </a:fld>
            <a:endParaRPr lang="ru-RU" altLang="ru-RU">
              <a:solidFill>
                <a:srgbClr val="000000"/>
              </a:solidFill>
              <a:latin typeface="Times New Roman Cyr" charset="0"/>
            </a:endParaRPr>
          </a:p>
        </p:txBody>
      </p:sp>
      <p:sp>
        <p:nvSpPr>
          <p:cNvPr id="21508" name="Text Box 1"/>
          <p:cNvSpPr txBox="1">
            <a:spLocks noChangeArrowheads="1"/>
          </p:cNvSpPr>
          <p:nvPr/>
        </p:nvSpPr>
        <p:spPr bwMode="auto">
          <a:xfrm>
            <a:off x="0" y="8686800"/>
            <a:ext cx="2960688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09" name="Text Box 2"/>
          <p:cNvSpPr txBox="1">
            <a:spLocks noChangeArrowheads="1"/>
          </p:cNvSpPr>
          <p:nvPr/>
        </p:nvSpPr>
        <p:spPr bwMode="auto">
          <a:xfrm>
            <a:off x="3886200" y="8686800"/>
            <a:ext cx="2960688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BFC2B043-341F-4FE6-8F59-FFCC3D6E6F2C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2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0" name="Text Box 3"/>
          <p:cNvSpPr txBox="1">
            <a:spLocks noChangeArrowheads="1"/>
          </p:cNvSpPr>
          <p:nvPr/>
        </p:nvSpPr>
        <p:spPr bwMode="auto">
          <a:xfrm>
            <a:off x="0" y="8686800"/>
            <a:ext cx="2967038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3886200" y="8686800"/>
            <a:ext cx="2967038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9FBA2EA1-59FB-47E3-AF77-F63A32EF3879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2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2" name="Text Box 5"/>
          <p:cNvSpPr txBox="1">
            <a:spLocks noChangeArrowheads="1"/>
          </p:cNvSpPr>
          <p:nvPr/>
        </p:nvSpPr>
        <p:spPr bwMode="auto">
          <a:xfrm>
            <a:off x="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06.02.02    About VMK faculty</a:t>
            </a:r>
          </a:p>
        </p:txBody>
      </p:sp>
      <p:sp>
        <p:nvSpPr>
          <p:cNvPr id="21513" name="Text Box 6"/>
          <p:cNvSpPr txBox="1">
            <a:spLocks noChangeArrowheads="1"/>
          </p:cNvSpPr>
          <p:nvPr/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r">
              <a:buClrTx/>
              <a:buFontTx/>
              <a:buNone/>
            </a:pPr>
            <a:fld id="{0DE57C3F-E652-49D6-96DD-2B4D87A2A26C}" type="slidenum">
              <a:rPr lang="ru-RU" altLang="ru-RU" sz="1200">
                <a:solidFill>
                  <a:srgbClr val="000000"/>
                </a:solidFill>
                <a:latin typeface="Times New Roman Cyr" charset="0"/>
                <a:cs typeface="Segoe UI" panose="020B0502040204020203" charset="0"/>
              </a:rPr>
              <a:t>2</a:t>
            </a:fld>
            <a:endParaRPr lang="ru-RU" altLang="ru-RU" sz="1200">
              <a:solidFill>
                <a:srgbClr val="000000"/>
              </a:solidFill>
              <a:latin typeface="Times New Roman Cyr" charset="0"/>
              <a:cs typeface="Segoe UI" panose="020B0502040204020203" charset="0"/>
            </a:endParaRPr>
          </a:p>
        </p:txBody>
      </p:sp>
      <p:sp>
        <p:nvSpPr>
          <p:cNvPr id="21514" name="Rectangle 7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15" name="Text Box 8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56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780F-83DC-4DDB-ACDE-6D7FEC2161C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856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780F-83DC-4DDB-ACDE-6D7FEC2161C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305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780F-83DC-4DDB-ACDE-6D7FEC2161C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586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780F-83DC-4DDB-ACDE-6D7FEC2161C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27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780F-83DC-4DDB-ACDE-6D7FEC2161C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88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62AAC-1819-410F-B3F3-956C51A15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C114AE-B9D8-4A0B-BE7D-3D1AB89B6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38BFA7-A3B8-4C67-ACF4-854BAB1E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0850-3458-4F82-9A81-E7A7DEC90626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DFC2FB-9820-4057-AEE5-86F6392B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9FCB94-7B12-4B12-9042-8DD634FE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F99D6-2BFF-467F-AA1C-BE6CA6F9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1F3811-B217-47E0-8866-161BF43A1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457A66-03CA-42BC-ADBF-F4779207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BACC-01AF-4348-BAD6-F707464CAB17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6C85B5-E5CA-474D-B0A6-D3647455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97765D-CBD3-4A76-A0D0-68EA240E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894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09E82-CD89-4848-9091-B15DDD88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CB991-E7F4-4830-B144-5F4C51DAB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B1EF51-2BAC-428E-A60C-C5545BFA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6564-32B5-40DB-A01F-9195D3FC37E3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373E8-C54B-4AC6-87B7-B140CAF59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9104C-404F-4B00-9705-D69D37D9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051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375AF-BB3D-4015-8C84-7E707F9E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1CD31-968D-44D6-8404-4D4B90243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C649AB-4086-4FDE-9E80-95BFBC694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196009-69FA-469F-962F-C7A258F1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30E7-4EDC-4C4F-BCCD-F1090AF01DF6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B9A9B8-8920-46A8-B9DE-6A289A20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4AA4C-953E-4FD3-ADF6-262CAE70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34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FF204-6E56-4DFD-83A2-FCCB7026C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E8808C-48C1-418B-BBD9-B9BBEE81C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E92136-64C8-4CFE-9BB1-C32472534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055F15-80E7-4A63-8C43-74ACF36E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BBE8BB-0EC5-441B-A7DD-D7339292B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A64355-1D6F-419F-A500-8A561F65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3CF-0983-49B9-8B8B-A257123095DC}" type="datetime1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F887448-3B39-4C5C-8E58-F7242DAD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4F628E2-EB58-45E5-A36B-D78B6803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530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F6145-E1D7-4270-B96B-11C4A29A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4D70F5-A3BA-4F6D-888F-47926280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5C60-56B3-424D-9A40-54561CD25FB5}" type="datetime1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6F550-676D-4660-A1A1-55679E3E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C3495F-E3A9-428B-8966-3598DFF9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556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AD6F64-7423-4FDF-9B02-7544C1E3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6925-1526-430E-B68A-E01919A77E13}" type="datetime1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E0737B-E11D-4A73-8B3B-8E12B1A5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4E5EA6-FF6D-450B-9A4D-CCCAAC65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126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B5E3E-61D4-430C-86DB-78E74F86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E406F-3F72-47BA-9C74-EA20B1A1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01B521-7BB3-4193-9261-552ECB98E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EAE6C4-EA3D-4D58-B287-D731B9804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DFDC-1CD2-42E3-99C3-0271EF79906C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FBB348-6AFE-412E-9AC9-E070F892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9C0B06-6C0E-495F-A760-F5C5B78B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018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2027C-ADF2-4FCE-8162-7CA32B2F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B8328A-11E9-486C-90E5-A0B031C61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F64AA6-64A7-445C-9B88-F41D8343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9F3EE-0842-4AC9-82D2-C36B3CA9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02ED-BDDD-46A7-96FC-AA7AA605AE63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E37DF7-1F10-47DE-9A38-724E00AF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CF0952-46C4-4F99-BF0F-E8D279B1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18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8EB14-97C4-41C6-BFBD-C57CE5C5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1D9A4F-4E9F-4804-968A-6319DB11F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50251A-9BF2-4620-BA24-BF373AB5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6126-509B-46CD-8983-0EC3D4628F4B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B41EEF-331A-48BD-9DD7-08105753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E2B7E-5DFF-4E55-9AB8-44397A69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38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D1764F-6B9A-4B1B-B3F6-F0D99804D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4DD472-699B-47AE-A395-385000FBD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7ED007-EDED-462C-B4BE-054E57D9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B78A-0D02-4EEA-8538-070840802259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488B65-3E02-4B21-8B04-F4A0373B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A2C406-C229-4546-8174-676CF6EE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316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E799E-5028-4BF6-9B5F-87CF0E1D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B6E77D-D38C-4A4E-A4E1-3BE5A9E41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CC14E8-DA14-4083-BB70-8E99AC9C0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AE150-874A-4B1C-BD95-536F3E383E9E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0898CF-ECFE-44EB-8EF1-081CDB6D5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7785DA-8385-4998-8B6A-55FD3C3DA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12B33-056B-4A61-8B10-FDCD7BD6D3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08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1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image" Target="../media/image11.sv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20.png"/><Relationship Id="rId2" Type="http://schemas.openxmlformats.org/officeDocument/2006/relationships/image" Target="../media/image21.png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8.png"/><Relationship Id="rId5" Type="http://schemas.openxmlformats.org/officeDocument/2006/relationships/image" Target="../media/image6.png"/><Relationship Id="rId15" Type="http://schemas.openxmlformats.org/officeDocument/2006/relationships/image" Target="../media/image10.png"/><Relationship Id="rId10" Type="http://schemas.openxmlformats.org/officeDocument/2006/relationships/image" Target="../media/image13.svg"/><Relationship Id="rId4" Type="http://schemas.openxmlformats.org/officeDocument/2006/relationships/image" Target="../media/image15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svetnoch/diploma-analysis.gi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sv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sv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23" Type="http://schemas.openxmlformats.org/officeDocument/2006/relationships/image" Target="../media/image56.pn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sv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23" Type="http://schemas.openxmlformats.org/officeDocument/2006/relationships/image" Target="../media/image58.pn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60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5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Relationship Id="rId1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pn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pn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6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17" Type="http://schemas.openxmlformats.org/officeDocument/2006/relationships/image" Target="../media/image64.png"/><Relationship Id="rId2" Type="http://schemas.openxmlformats.org/officeDocument/2006/relationships/image" Target="../media/image3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pn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sv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66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23" Type="http://schemas.openxmlformats.org/officeDocument/2006/relationships/image" Target="../media/image21.pn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sv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hyperlink" Target="https://github.com/svetnoch/diploma-analysis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8CC114-5690-4BB8-928E-870874A6B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39" y="1372335"/>
            <a:ext cx="9353747" cy="5097792"/>
          </a:xfrm>
          <a:prstGeom prst="rect">
            <a:avLst/>
          </a:prstGeom>
        </p:spPr>
      </p:pic>
      <p:sp>
        <p:nvSpPr>
          <p:cNvPr id="2050" name="Text Box 1"/>
          <p:cNvSpPr txBox="1">
            <a:spLocks noChangeArrowheads="1"/>
          </p:cNvSpPr>
          <p:nvPr/>
        </p:nvSpPr>
        <p:spPr bwMode="auto">
          <a:xfrm>
            <a:off x="815833" y="116559"/>
            <a:ext cx="10320727" cy="2285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1840" tIns="25920" rIns="51840" bIns="25920" anchor="ctr" anchorCtr="1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ctr">
              <a:lnSpc>
                <a:spcPct val="89000"/>
              </a:lnSpc>
              <a:buClrTx/>
              <a:buFontTx/>
              <a:buNone/>
            </a:pPr>
            <a:r>
              <a:rPr lang="ru-RU" altLang="ru-RU" sz="2800" b="1" dirty="0">
                <a:solidFill>
                  <a:srgbClr val="3E2E2A"/>
                </a:solidFill>
                <a:latin typeface="Lora" pitchFamily="2" charset="-52"/>
              </a:rPr>
              <a:t>Факультет вычислительной математики и кибернетики</a:t>
            </a:r>
          </a:p>
          <a:p>
            <a:pPr algn="ctr">
              <a:lnSpc>
                <a:spcPct val="89000"/>
              </a:lnSpc>
              <a:buClrTx/>
              <a:buFontTx/>
              <a:buNone/>
            </a:pPr>
            <a:r>
              <a:rPr lang="ru-RU" altLang="ru-RU" sz="2800" b="1" dirty="0">
                <a:solidFill>
                  <a:srgbClr val="3E2E2A"/>
                </a:solidFill>
                <a:latin typeface="Lora" pitchFamily="2" charset="-52"/>
              </a:rPr>
              <a:t>МГУ имени М.В. Ломоносова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8088" y="2402163"/>
            <a:ext cx="6808316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анализ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Еxcel</a:t>
            </a: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файлов в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Qwen</a:t>
            </a: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studio</a:t>
            </a:r>
            <a:r>
              <a:rPr lang="ru-RU" sz="1800" dirty="0">
                <a:solidFill>
                  <a:srgbClr val="C2B9AD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ru-RU" sz="2000" b="1" dirty="0">
              <a:solidFill>
                <a:srgbClr val="000080"/>
              </a:solidFill>
            </a:endParaRPr>
          </a:p>
          <a:p>
            <a:pPr algn="ctr"/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0822686" y="1184343"/>
            <a:ext cx="10659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Программа профессиональной переподготовки</a:t>
            </a:r>
            <a:b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</a:br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«</a:t>
            </a:r>
            <a:r>
              <a:rPr lang="ru-RU" sz="2200" b="1" dirty="0">
                <a:solidFill>
                  <a:srgbClr val="C87A5A"/>
                </a:solidFill>
                <a:latin typeface="Lora" pitchFamily="2" charset="-52"/>
              </a:rPr>
              <a:t>Искусственный интеллект и машинное обучение</a:t>
            </a:r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» </a:t>
            </a:r>
            <a:endParaRPr lang="ru-RU" sz="2200" dirty="0">
              <a:solidFill>
                <a:srgbClr val="C87A5A"/>
              </a:solidFill>
              <a:latin typeface="Lora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070A5-08D1-447B-B0A8-8D9BDBEE1BF4}"/>
              </a:ext>
            </a:extLst>
          </p:cNvPr>
          <p:cNvSpPr txBox="1"/>
          <p:nvPr/>
        </p:nvSpPr>
        <p:spPr>
          <a:xfrm>
            <a:off x="-4356100" y="3059668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Лазутина Светлана Александровна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4F584-602C-4EE3-90A9-542AAB39F757}"/>
              </a:ext>
            </a:extLst>
          </p:cNvPr>
          <p:cNvSpPr txBox="1"/>
          <p:nvPr/>
        </p:nvSpPr>
        <p:spPr>
          <a:xfrm>
            <a:off x="-3536624" y="1953784"/>
            <a:ext cx="364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Научный руководитель:</a:t>
            </a:r>
          </a:p>
          <a:p>
            <a:r>
              <a:rPr lang="ru-RU" dirty="0" err="1">
                <a:solidFill>
                  <a:srgbClr val="3E2E2A"/>
                </a:solidFill>
                <a:latin typeface="Lora" pitchFamily="2" charset="-52"/>
              </a:rPr>
              <a:t>Намиот</a:t>
            </a:r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 Д.Е.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42A94-0485-49DD-9B47-8CA34B44268E}"/>
              </a:ext>
            </a:extLst>
          </p:cNvPr>
          <p:cNvSpPr txBox="1"/>
          <p:nvPr/>
        </p:nvSpPr>
        <p:spPr>
          <a:xfrm>
            <a:off x="5871937" y="6332106"/>
            <a:ext cx="1043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</a:t>
            </a:r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D1E84E-185B-402F-A9B3-20687220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18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8CC114-5690-4BB8-928E-870874A6B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947" y="200117"/>
            <a:ext cx="12289894" cy="6697992"/>
          </a:xfrm>
          <a:prstGeom prst="rect">
            <a:avLst/>
          </a:prstGeom>
        </p:spPr>
      </p:pic>
      <p:sp>
        <p:nvSpPr>
          <p:cNvPr id="2050" name="Text Box 1"/>
          <p:cNvSpPr txBox="1">
            <a:spLocks noChangeArrowheads="1"/>
          </p:cNvSpPr>
          <p:nvPr/>
        </p:nvSpPr>
        <p:spPr bwMode="auto">
          <a:xfrm>
            <a:off x="815833" y="116560"/>
            <a:ext cx="10320727" cy="89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1840" tIns="25920" rIns="51840" bIns="25920" anchor="ctr" anchorCtr="1"/>
          <a:lstStyle>
            <a:lvl1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1pPr>
            <a:lvl2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2pPr>
            <a:lvl3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3pPr>
            <a:lvl4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4pPr>
            <a:lvl5pPr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charset="-122"/>
              </a:defRPr>
            </a:lvl9pPr>
          </a:lstStyle>
          <a:p>
            <a:pPr algn="ctr">
              <a:lnSpc>
                <a:spcPct val="89000"/>
              </a:lnSpc>
              <a:buClrTx/>
              <a:buFontTx/>
              <a:buNone/>
            </a:pPr>
            <a:r>
              <a:rPr lang="ru-RU" altLang="ru-RU" sz="2800" b="1" dirty="0">
                <a:solidFill>
                  <a:srgbClr val="3E2E2A"/>
                </a:solidFill>
                <a:latin typeface="Lora" pitchFamily="2" charset="-52"/>
              </a:rPr>
              <a:t>Факультет вычислительной математики и кибернетики</a:t>
            </a:r>
          </a:p>
          <a:p>
            <a:pPr algn="ctr">
              <a:lnSpc>
                <a:spcPct val="89000"/>
              </a:lnSpc>
              <a:buClrTx/>
              <a:buFontTx/>
              <a:buNone/>
            </a:pPr>
            <a:r>
              <a:rPr lang="ru-RU" altLang="ru-RU" sz="2800" b="1" dirty="0">
                <a:solidFill>
                  <a:srgbClr val="3E2E2A"/>
                </a:solidFill>
                <a:latin typeface="Lora" pitchFamily="2" charset="-52"/>
              </a:rPr>
              <a:t>МГУ имени М.В. Ломоносова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7593" y="1908048"/>
            <a:ext cx="6808316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анализ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Еxcel</a:t>
            </a: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файлов в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Qwen</a:t>
            </a:r>
            <a:r>
              <a:rPr lang="ru-RU" sz="18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studio</a:t>
            </a:r>
            <a:r>
              <a:rPr lang="ru-RU" sz="1800" dirty="0">
                <a:solidFill>
                  <a:srgbClr val="C2B9AD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ru-RU" sz="2000" b="1" dirty="0">
              <a:solidFill>
                <a:srgbClr val="000080"/>
              </a:solidFill>
            </a:endParaRPr>
          </a:p>
          <a:p>
            <a:pPr algn="ctr"/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15833" y="1009106"/>
            <a:ext cx="10659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Программа профессиональной переподготовки</a:t>
            </a:r>
            <a:b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</a:br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«</a:t>
            </a:r>
            <a:r>
              <a:rPr lang="ru-RU" sz="2200" b="1" dirty="0">
                <a:solidFill>
                  <a:srgbClr val="C87A5A"/>
                </a:solidFill>
                <a:latin typeface="Lora" pitchFamily="2" charset="-52"/>
              </a:rPr>
              <a:t>Искусственный интеллект и машинное обучение</a:t>
            </a:r>
            <a:r>
              <a:rPr lang="ru-RU" altLang="ru-RU" sz="2200" b="1" dirty="0">
                <a:solidFill>
                  <a:srgbClr val="C87A5A"/>
                </a:solidFill>
                <a:latin typeface="Lora" pitchFamily="2" charset="-52"/>
              </a:rPr>
              <a:t>» </a:t>
            </a:r>
            <a:endParaRPr lang="ru-RU" sz="2200" dirty="0">
              <a:solidFill>
                <a:srgbClr val="C87A5A"/>
              </a:solidFill>
              <a:latin typeface="Lora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070A5-08D1-447B-B0A8-8D9BDBEE1BF4}"/>
              </a:ext>
            </a:extLst>
          </p:cNvPr>
          <p:cNvSpPr txBox="1"/>
          <p:nvPr/>
        </p:nvSpPr>
        <p:spPr>
          <a:xfrm>
            <a:off x="7257593" y="2668768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Лазутина Светлана Александровна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4F584-602C-4EE3-90A9-542AAB39F757}"/>
              </a:ext>
            </a:extLst>
          </p:cNvPr>
          <p:cNvSpPr txBox="1"/>
          <p:nvPr/>
        </p:nvSpPr>
        <p:spPr>
          <a:xfrm>
            <a:off x="736526" y="2119718"/>
            <a:ext cx="364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Научный руководитель:</a:t>
            </a:r>
          </a:p>
          <a:p>
            <a:r>
              <a:rPr lang="ru-RU" dirty="0" err="1">
                <a:solidFill>
                  <a:srgbClr val="3E2E2A"/>
                </a:solidFill>
                <a:latin typeface="Lora" pitchFamily="2" charset="-52"/>
              </a:rPr>
              <a:t>Намиот</a:t>
            </a:r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 Дмитрий Евгеньевич.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39A7ED-E9B3-4359-BFC3-6B8CAB5EA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2457" y="2371685"/>
            <a:ext cx="3030831" cy="168379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391DB38-F518-4BCE-A83E-1E97FFF7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706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E1D1FF6-F6E3-49AB-A8C3-1001DB7277B9}"/>
              </a:ext>
            </a:extLst>
          </p:cNvPr>
          <p:cNvSpPr/>
          <p:nvPr/>
        </p:nvSpPr>
        <p:spPr>
          <a:xfrm>
            <a:off x="738187" y="1905455"/>
            <a:ext cx="5269641" cy="2652713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369848"/>
            <a:ext cx="10715625" cy="1325563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3E2E2A"/>
                </a:solidFill>
                <a:effectLst/>
                <a:latin typeface="Lora" pitchFamily="2" charset="-52"/>
              </a:rPr>
              <a:t>Автоматизация анализа данных Excel в </a:t>
            </a:r>
            <a:r>
              <a:rPr lang="ru-RU" b="0" i="0" dirty="0" err="1">
                <a:solidFill>
                  <a:srgbClr val="3E2E2A"/>
                </a:solidFill>
                <a:effectLst/>
                <a:latin typeface="Lora" pitchFamily="2" charset="-52"/>
              </a:rPr>
              <a:t>Qwen</a:t>
            </a:r>
            <a:r>
              <a:rPr lang="ru-RU" b="0" i="0" dirty="0">
                <a:solidFill>
                  <a:srgbClr val="3E2E2A"/>
                </a:solidFill>
                <a:effectLst/>
                <a:latin typeface="Lora" pitchFamily="2" charset="-52"/>
              </a:rPr>
              <a:t> Studio</a:t>
            </a:r>
            <a:endParaRPr lang="ru-RU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5B19D-9DD0-4B6F-AA5A-D9D480F9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974" y="2181867"/>
            <a:ext cx="5153025" cy="2652713"/>
          </a:xfrm>
        </p:spPr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Научный подход к автоматизации EDA с использованием "</a:t>
            </a:r>
            <a:r>
              <a:rPr lang="ru-RU" b="0" i="0" dirty="0" err="1">
                <a:solidFill>
                  <a:srgbClr val="C87A5A"/>
                </a:solidFill>
                <a:effectLst/>
                <a:latin typeface="Lora" pitchFamily="2" charset="-52"/>
              </a:rPr>
              <a:t>no-code</a:t>
            </a:r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" </a:t>
            </a:r>
            <a:r>
              <a:rPr lang="ru-RU" b="0" i="0" dirty="0" err="1">
                <a:solidFill>
                  <a:srgbClr val="C87A5A"/>
                </a:solidFill>
                <a:effectLst/>
                <a:latin typeface="Lora" pitchFamily="2" charset="-52"/>
              </a:rPr>
              <a:t>промпт</a:t>
            </a:r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-инжиниринга и интеграции с </a:t>
            </a:r>
            <a:r>
              <a:rPr lang="ru-RU" b="0" i="0" dirty="0" err="1">
                <a:solidFill>
                  <a:srgbClr val="C87A5A"/>
                </a:solidFill>
                <a:effectLst/>
                <a:latin typeface="Lora" pitchFamily="2" charset="-52"/>
              </a:rPr>
              <a:t>GitHub</a:t>
            </a:r>
            <a:endParaRPr lang="ru-RU" dirty="0">
              <a:solidFill>
                <a:srgbClr val="C87A5A"/>
              </a:solidFill>
              <a:latin typeface="Lora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F741B-B2B3-4C71-8E89-F5F5C33B984D}"/>
              </a:ext>
            </a:extLst>
          </p:cNvPr>
          <p:cNvSpPr txBox="1"/>
          <p:nvPr/>
        </p:nvSpPr>
        <p:spPr>
          <a:xfrm>
            <a:off x="738187" y="5329382"/>
            <a:ext cx="9858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C2B9AD"/>
                </a:solidFill>
                <a:effectLst/>
                <a:latin typeface="Inter"/>
              </a:rPr>
              <a:t>Современный анализ данных требует перехода от рутинных манипуляций к интеллектуальной автоматизации.</a:t>
            </a:r>
            <a:endParaRPr lang="ru-RU" dirty="0">
              <a:solidFill>
                <a:srgbClr val="C2B9AD"/>
              </a:solidFill>
            </a:endParaRPr>
          </a:p>
          <a:p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924D6D2-3F96-4FA4-A02E-6CD5280F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6544" y="-96346"/>
            <a:ext cx="7269443" cy="72514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A309BB-AAA6-4B30-8E4B-B422AFDB5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607" y="1065430"/>
            <a:ext cx="7636239" cy="424235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49EBFC-7EE4-4334-965B-B95A7B89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757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619" y="193188"/>
            <a:ext cx="6134100" cy="2412998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Набор данных по рискам безопасности </a:t>
            </a:r>
            <a:r>
              <a:rPr lang="ru-RU" sz="2400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агентного</a:t>
            </a:r>
            <a:r>
              <a:rPr lang="ru-RU" sz="24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ИИ направлен на </a:t>
            </a:r>
            <a:r>
              <a:rPr lang="ru-RU" sz="24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  <a:cs typeface="Arial" panose="020B0604020202020204" pitchFamily="34" charset="0"/>
              </a:rPr>
              <a:t>облегчение</a:t>
            </a:r>
            <a:r>
              <a:rPr lang="ru-RU" sz="24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исследований в области безопасности, контроля доступа и прогнозирования рисков для автономных рабочих процессов агентов ИИ</a:t>
            </a:r>
            <a:endParaRPr lang="ru-RU" sz="24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5B19D-9DD0-4B6F-AA5A-D9D480F9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300" y="3041970"/>
            <a:ext cx="8305800" cy="1760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C2B9AD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Этот набор данных основан на смоделированных журналах безопасности агентов ИИ, таких как роли агентов, пользовательские роли, запрашиваемые действия, используемые инструменты, чувствительность ресурсов, сопоставление разрешений, риски отвода данных, доступность аудиторских журналов и окончательные решения о доступе.</a:t>
            </a:r>
            <a:endParaRPr lang="ru-RU" sz="2000" dirty="0">
              <a:solidFill>
                <a:srgbClr val="C2B9AD"/>
              </a:solidFill>
              <a:latin typeface="Lora" pitchFamily="2" charset="-52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3CFB9-5CFA-4F74-B353-3F6F2FA90357}"/>
              </a:ext>
            </a:extLst>
          </p:cNvPr>
          <p:cNvSpPr/>
          <p:nvPr/>
        </p:nvSpPr>
        <p:spPr>
          <a:xfrm>
            <a:off x="409575" y="542131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C87A5A"/>
          </a:solidFill>
          <a:scene3d>
            <a:camera prst="orthographicFront"/>
            <a:lightRig rig="threePt" dir="t"/>
          </a:scene3d>
          <a:sp3d extrusionH="127000" contourW="63500" prstMaterial="matte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</a:rPr>
              <a:t>Набор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2F6C11-19DB-46B8-94EE-D8B91CE3EC57}"/>
              </a:ext>
            </a:extLst>
          </p:cNvPr>
          <p:cNvSpPr/>
          <p:nvPr/>
        </p:nvSpPr>
        <p:spPr>
          <a:xfrm>
            <a:off x="409575" y="1774030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Qwen</a:t>
            </a:r>
            <a:r>
              <a:rPr lang="en-US" dirty="0">
                <a:solidFill>
                  <a:srgbClr val="3E2E2A"/>
                </a:solidFill>
              </a:rPr>
              <a:t> studio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934AA9-AB53-42AB-A87D-0252B8724D39}"/>
              </a:ext>
            </a:extLst>
          </p:cNvPr>
          <p:cNvSpPr/>
          <p:nvPr/>
        </p:nvSpPr>
        <p:spPr>
          <a:xfrm>
            <a:off x="409575" y="3076177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GitHab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E697DB8-D947-495F-8EFC-586A27DF935B}"/>
              </a:ext>
            </a:extLst>
          </p:cNvPr>
          <p:cNvSpPr/>
          <p:nvPr/>
        </p:nvSpPr>
        <p:spPr>
          <a:xfrm>
            <a:off x="409575" y="4416424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GitBash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8D5219-C8A2-4D43-97B3-2B23127A925F}"/>
              </a:ext>
            </a:extLst>
          </p:cNvPr>
          <p:cNvSpPr/>
          <p:nvPr/>
        </p:nvSpPr>
        <p:spPr>
          <a:xfrm>
            <a:off x="409575" y="5611019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E2E2A"/>
                </a:solidFill>
              </a:rPr>
              <a:t>Excel </a:t>
            </a:r>
            <a:r>
              <a:rPr lang="ru-RU" dirty="0">
                <a:solidFill>
                  <a:srgbClr val="3E2E2A"/>
                </a:solidFill>
              </a:rPr>
              <a:t>от</a:t>
            </a:r>
            <a:r>
              <a:rPr lang="en-US" dirty="0">
                <a:solidFill>
                  <a:srgbClr val="3E2E2A"/>
                </a:solidFill>
              </a:rPr>
              <a:t> Microsoft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D107DA5-D86F-4F52-95A4-0BB1C3B4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381" y="381002"/>
            <a:ext cx="1900238" cy="18955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0CFA1B-3A77-49DF-8ED9-FBE45B655800}"/>
              </a:ext>
            </a:extLst>
          </p:cNvPr>
          <p:cNvSpPr txBox="1"/>
          <p:nvPr/>
        </p:nvSpPr>
        <p:spPr>
          <a:xfrm>
            <a:off x="3797300" y="2506846"/>
            <a:ext cx="676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87A5A"/>
                </a:solidFill>
                <a:latin typeface="Lora" pitchFamily="2" charset="-52"/>
              </a:rPr>
              <a:t>Используется как дата сет с сырыми данными.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DA18ACF-E4EE-4535-B5F5-5C74B8EE86C4}"/>
              </a:ext>
            </a:extLst>
          </p:cNvPr>
          <p:cNvSpPr/>
          <p:nvPr/>
        </p:nvSpPr>
        <p:spPr>
          <a:xfrm>
            <a:off x="3147695" y="5014282"/>
            <a:ext cx="8634730" cy="1404455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7" name="Рисунок 16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69FF135D-4138-49E8-951E-74F9E4D7A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0450" y="5305505"/>
            <a:ext cx="914400" cy="914400"/>
          </a:xfrm>
          <a:prstGeom prst="rect">
            <a:avLst/>
          </a:prstGeom>
        </p:spPr>
      </p:pic>
      <p:pic>
        <p:nvPicPr>
          <p:cNvPr id="21" name="Рисунок 20" descr="Передача со сплошной заливкой">
            <a:extLst>
              <a:ext uri="{FF2B5EF4-FFF2-40B4-BE49-F238E27FC236}">
                <a16:creationId xmlns:a16="http://schemas.microsoft.com/office/drawing/2014/main" id="{13D17694-6DF5-4D9C-BFBA-7450A51534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5903" y="5259310"/>
            <a:ext cx="914400" cy="914400"/>
          </a:xfrm>
          <a:prstGeom prst="rect">
            <a:avLst/>
          </a:prstGeom>
        </p:spPr>
      </p:pic>
      <p:pic>
        <p:nvPicPr>
          <p:cNvPr id="25" name="Рисунок 24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70DF5E9B-6FCA-422D-84CC-F2EC11CD81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6963" y="5290901"/>
            <a:ext cx="914400" cy="914400"/>
          </a:xfrm>
          <a:prstGeom prst="rect">
            <a:avLst/>
          </a:prstGeom>
        </p:spPr>
      </p:pic>
      <p:pic>
        <p:nvPicPr>
          <p:cNvPr id="27" name="Рисунок 26" descr="Компьютер со сплошной заливкой">
            <a:extLst>
              <a:ext uri="{FF2B5EF4-FFF2-40B4-BE49-F238E27FC236}">
                <a16:creationId xmlns:a16="http://schemas.microsoft.com/office/drawing/2014/main" id="{58BE65E6-49F7-4B0F-911C-22C0337C9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35731" y="5290901"/>
            <a:ext cx="914400" cy="914400"/>
          </a:xfrm>
          <a:prstGeom prst="rect">
            <a:avLst/>
          </a:prstGeom>
        </p:spPr>
      </p:pic>
      <p:pic>
        <p:nvPicPr>
          <p:cNvPr id="30" name="Рисунок 29" descr="Передача со сплошной заливкой">
            <a:extLst>
              <a:ext uri="{FF2B5EF4-FFF2-40B4-BE49-F238E27FC236}">
                <a16:creationId xmlns:a16="http://schemas.microsoft.com/office/drawing/2014/main" id="{4B89EF73-7AB7-442E-9334-DBD1DE4087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4668" y="5259310"/>
            <a:ext cx="914400" cy="914400"/>
          </a:xfrm>
          <a:prstGeom prst="rect">
            <a:avLst/>
          </a:prstGeom>
        </p:spPr>
      </p:pic>
      <p:pic>
        <p:nvPicPr>
          <p:cNvPr id="31" name="Рисунок 30" descr="Робот со сплошной заливкой">
            <a:extLst>
              <a:ext uri="{FF2B5EF4-FFF2-40B4-BE49-F238E27FC236}">
                <a16:creationId xmlns:a16="http://schemas.microsoft.com/office/drawing/2014/main" id="{3C9CA13A-8778-491C-BA8C-C141B995EE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28130" y="5149296"/>
            <a:ext cx="1197609" cy="1197609"/>
          </a:xfrm>
          <a:prstGeom prst="rect">
            <a:avLst/>
          </a:prstGeom>
        </p:spPr>
      </p:pic>
      <p:pic>
        <p:nvPicPr>
          <p:cNvPr id="32" name="Рисунок 31" descr="Документ со сплошной заливкой">
            <a:extLst>
              <a:ext uri="{FF2B5EF4-FFF2-40B4-BE49-F238E27FC236}">
                <a16:creationId xmlns:a16="http://schemas.microsoft.com/office/drawing/2014/main" id="{08FAC805-D702-4D94-BBBB-4AD4D8AC02F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83414" y="5296298"/>
            <a:ext cx="914400" cy="914400"/>
          </a:xfrm>
          <a:prstGeom prst="rect">
            <a:avLst/>
          </a:prstGeom>
        </p:spPr>
      </p:pic>
      <p:pic>
        <p:nvPicPr>
          <p:cNvPr id="33" name="Рисунок 32" descr="Субтитры со сплошной заливкой">
            <a:extLst>
              <a:ext uri="{FF2B5EF4-FFF2-40B4-BE49-F238E27FC236}">
                <a16:creationId xmlns:a16="http://schemas.microsoft.com/office/drawing/2014/main" id="{CB2C1615-A694-497E-9A6C-4330E343AEF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77694" y="5312808"/>
            <a:ext cx="914400" cy="914400"/>
          </a:xfrm>
          <a:prstGeom prst="rect">
            <a:avLst/>
          </a:prstGeom>
        </p:spPr>
      </p:pic>
      <p:pic>
        <p:nvPicPr>
          <p:cNvPr id="34" name="Рисунок 33" descr="Передача со сплошной заливкой">
            <a:extLst>
              <a:ext uri="{FF2B5EF4-FFF2-40B4-BE49-F238E27FC236}">
                <a16:creationId xmlns:a16="http://schemas.microsoft.com/office/drawing/2014/main" id="{43A86FDC-8522-4AAA-8BDF-61E694386B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58316" y="5312808"/>
            <a:ext cx="914400" cy="914400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B0DA30-43B2-43C0-80C0-5EA4D475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20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8975" y="-73373"/>
            <a:ext cx="6110466" cy="2552253"/>
          </a:xfrm>
        </p:spPr>
        <p:txBody>
          <a:bodyPr>
            <a:noAutofit/>
          </a:bodyPr>
          <a:lstStyle/>
          <a:p>
            <a:r>
              <a:rPr lang="ru-RU" sz="2400" b="0" i="0" dirty="0" err="1">
                <a:solidFill>
                  <a:srgbClr val="3E2E2A"/>
                </a:solidFill>
                <a:effectLst/>
                <a:latin typeface="Lora" pitchFamily="2" charset="-52"/>
              </a:rPr>
              <a:t>Qwen</a:t>
            </a:r>
            <a:r>
              <a:rPr lang="ru-RU" sz="2400" b="0" i="0" dirty="0">
                <a:solidFill>
                  <a:srgbClr val="3E2E2A"/>
                </a:solidFill>
                <a:effectLst/>
                <a:latin typeface="Lora" pitchFamily="2" charset="-52"/>
              </a:rPr>
              <a:t> Studio от </a:t>
            </a:r>
            <a:r>
              <a:rPr lang="ru-RU" sz="2400" b="0" i="0" dirty="0" err="1">
                <a:solidFill>
                  <a:srgbClr val="3E2E2A"/>
                </a:solidFill>
                <a:effectLst/>
                <a:latin typeface="Lora" pitchFamily="2" charset="-52"/>
              </a:rPr>
              <a:t>Alibaba</a:t>
            </a:r>
            <a:r>
              <a:rPr lang="ru-RU" sz="2400" b="0" i="0" dirty="0">
                <a:solidFill>
                  <a:srgbClr val="3E2E2A"/>
                </a:solidFill>
                <a:effectLst/>
                <a:latin typeface="Lora" pitchFamily="2" charset="-52"/>
              </a:rPr>
              <a:t> — полноценный виртуальный напарник-разработчик для глубокого анализа данных. </a:t>
            </a:r>
            <a:endParaRPr lang="ru-RU" sz="24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3CFB9-5CFA-4F74-B353-3F6F2FA90357}"/>
              </a:ext>
            </a:extLst>
          </p:cNvPr>
          <p:cNvSpPr/>
          <p:nvPr/>
        </p:nvSpPr>
        <p:spPr>
          <a:xfrm>
            <a:off x="409575" y="542131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</a:rPr>
              <a:t>Набор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2F6C11-19DB-46B8-94EE-D8B91CE3EC57}"/>
              </a:ext>
            </a:extLst>
          </p:cNvPr>
          <p:cNvSpPr/>
          <p:nvPr/>
        </p:nvSpPr>
        <p:spPr>
          <a:xfrm>
            <a:off x="409575" y="1774030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C87A5A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Qwen</a:t>
            </a:r>
            <a:r>
              <a:rPr lang="en-US" dirty="0">
                <a:solidFill>
                  <a:srgbClr val="3E2E2A"/>
                </a:solidFill>
              </a:rPr>
              <a:t> studio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934AA9-AB53-42AB-A87D-0252B8724D39}"/>
              </a:ext>
            </a:extLst>
          </p:cNvPr>
          <p:cNvSpPr/>
          <p:nvPr/>
        </p:nvSpPr>
        <p:spPr>
          <a:xfrm>
            <a:off x="409575" y="3076177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GitHab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E697DB8-D947-495F-8EFC-586A27DF935B}"/>
              </a:ext>
            </a:extLst>
          </p:cNvPr>
          <p:cNvSpPr/>
          <p:nvPr/>
        </p:nvSpPr>
        <p:spPr>
          <a:xfrm>
            <a:off x="409575" y="4416424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GitBash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8D5219-C8A2-4D43-97B3-2B23127A925F}"/>
              </a:ext>
            </a:extLst>
          </p:cNvPr>
          <p:cNvSpPr/>
          <p:nvPr/>
        </p:nvSpPr>
        <p:spPr>
          <a:xfrm>
            <a:off x="409575" y="5611019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E2E2A"/>
                </a:solidFill>
              </a:rPr>
              <a:t>Excel </a:t>
            </a:r>
            <a:r>
              <a:rPr lang="ru-RU" dirty="0">
                <a:solidFill>
                  <a:srgbClr val="3E2E2A"/>
                </a:solidFill>
              </a:rPr>
              <a:t>от</a:t>
            </a:r>
            <a:r>
              <a:rPr lang="en-US" dirty="0">
                <a:solidFill>
                  <a:srgbClr val="3E2E2A"/>
                </a:solidFill>
              </a:rPr>
              <a:t> Microsoft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0EF29D-B72D-485D-B988-68A4291E8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75" y="-255126"/>
            <a:ext cx="3983056" cy="2989133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B816B2D0-B90C-4776-BD32-3930093EB2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4882" y="3766267"/>
            <a:ext cx="7924800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ru-RU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Специализированный режим </a:t>
            </a:r>
            <a:r>
              <a:rPr lang="ru-RU" sz="2000" b="0" i="0" dirty="0" err="1">
                <a:solidFill>
                  <a:srgbClr val="C2B9AD"/>
                </a:solidFill>
                <a:effectLst/>
                <a:latin typeface="Lora" pitchFamily="2" charset="-52"/>
              </a:rPr>
              <a:t>Coder</a:t>
            </a:r>
            <a:r>
              <a:rPr lang="ru-RU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 для универсальной </a:t>
            </a:r>
            <a:r>
              <a:rPr lang="ru-RU" sz="2000" b="0" i="0" dirty="0" err="1">
                <a:solidFill>
                  <a:srgbClr val="C2B9AD"/>
                </a:solidFill>
                <a:effectLst/>
                <a:latin typeface="Lora" pitchFamily="2" charset="-52"/>
              </a:rPr>
              <a:t>no-code</a:t>
            </a:r>
            <a:r>
              <a:rPr lang="ru-RU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 аналитики. </a:t>
            </a:r>
            <a:r>
              <a:rPr lang="en-US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/workspace</a:t>
            </a:r>
            <a:r>
              <a:rPr lang="ru-RU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 </a:t>
            </a:r>
            <a:r>
              <a:rPr lang="ru-RU" sz="2000" dirty="0">
                <a:solidFill>
                  <a:srgbClr val="C2B9AD"/>
                </a:solidFill>
                <a:latin typeface="Lora" pitchFamily="2" charset="-52"/>
              </a:rPr>
              <a:t>и</a:t>
            </a:r>
            <a:r>
              <a:rPr lang="ru-RU" sz="2000" b="0" i="0" dirty="0">
                <a:solidFill>
                  <a:srgbClr val="C2B9AD"/>
                </a:solidFill>
                <a:effectLst/>
                <a:latin typeface="Lora" pitchFamily="2" charset="-52"/>
              </a:rPr>
              <a:t>золированная директория, гарантирующая безопасность и структурированность.</a:t>
            </a: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rgbClr val="C2B9AD"/>
              </a:solidFill>
              <a:effectLst/>
              <a:latin typeface="Lora" pitchFamily="2" charset="-52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B6DAF-1298-429D-A2CF-DB184A5BC5FC}"/>
              </a:ext>
            </a:extLst>
          </p:cNvPr>
          <p:cNvSpPr txBox="1"/>
          <p:nvPr/>
        </p:nvSpPr>
        <p:spPr>
          <a:xfrm>
            <a:off x="3374882" y="2082483"/>
            <a:ext cx="746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</a:rPr>
              <a:t>В отличие от обычного чата, </a:t>
            </a:r>
            <a:r>
              <a:rPr lang="ru-RU" sz="2000" b="1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Coder</a:t>
            </a:r>
            <a:r>
              <a:rPr lang="ru-RU" sz="2000" b="1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(</a:t>
            </a:r>
            <a:r>
              <a:rPr lang="en-US" sz="2000" b="1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qwen</a:t>
            </a:r>
            <a:r>
              <a:rPr lang="ru-RU" sz="2000" b="1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3.5)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  интегрирует 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</a:rPr>
              <a:t>с вашим проектом на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GitHub</a:t>
            </a:r>
            <a: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. Работа с </a:t>
            </a:r>
            <a:r>
              <a:rPr lang="ru-RU" sz="2000" dirty="0" err="1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промтами</a:t>
            </a:r>
            <a: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, без написания кода.</a:t>
            </a:r>
            <a:b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</a:br>
            <a: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Пишу </a:t>
            </a:r>
            <a:r>
              <a:rPr lang="ru-RU" sz="2000" dirty="0" err="1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промт</a:t>
            </a:r>
            <a: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</a:rPr>
              <a:t> </a:t>
            </a:r>
            <a:r>
              <a:rPr lang="ru-RU" sz="2000" dirty="0">
                <a:solidFill>
                  <a:srgbClr val="C87A5A"/>
                </a:solidFill>
                <a:latin typeface="Lora" pitchFamily="2" charset="-52"/>
                <a:ea typeface="Calibri" panose="020F0502020204030204" pitchFamily="34" charset="0"/>
                <a:sym typeface="Wingdings" panose="05000000000000000000" pitchFamily="2" charset="2"/>
              </a:rPr>
              <a:t> получаю результат.</a:t>
            </a:r>
            <a:endParaRPr lang="ru-RU" sz="2000" dirty="0">
              <a:solidFill>
                <a:srgbClr val="C87A5A"/>
              </a:solidFill>
              <a:latin typeface="Lora" pitchFamily="2" charset="-52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8F21AC6-2CAD-4350-8378-3B08F4E37CFD}"/>
              </a:ext>
            </a:extLst>
          </p:cNvPr>
          <p:cNvSpPr/>
          <p:nvPr/>
        </p:nvSpPr>
        <p:spPr>
          <a:xfrm>
            <a:off x="3147695" y="4911414"/>
            <a:ext cx="8634730" cy="1404455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Робот со сплошной заливкой">
            <a:extLst>
              <a:ext uri="{FF2B5EF4-FFF2-40B4-BE49-F238E27FC236}">
                <a16:creationId xmlns:a16="http://schemas.microsoft.com/office/drawing/2014/main" id="{E21DEF1C-E374-4B8E-A363-D73F21249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8371" y="5039648"/>
            <a:ext cx="1193726" cy="1193726"/>
          </a:xfrm>
          <a:prstGeom prst="rect">
            <a:avLst/>
          </a:prstGeom>
        </p:spPr>
      </p:pic>
      <p:pic>
        <p:nvPicPr>
          <p:cNvPr id="20" name="Рисунок 19" descr="Передача со сплошной заливкой">
            <a:extLst>
              <a:ext uri="{FF2B5EF4-FFF2-40B4-BE49-F238E27FC236}">
                <a16:creationId xmlns:a16="http://schemas.microsoft.com/office/drawing/2014/main" id="{7C2A3EC2-42FE-4615-9494-088FFF672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7926" y="5296384"/>
            <a:ext cx="914400" cy="914400"/>
          </a:xfrm>
          <a:prstGeom prst="rect">
            <a:avLst/>
          </a:prstGeom>
        </p:spPr>
      </p:pic>
      <p:pic>
        <p:nvPicPr>
          <p:cNvPr id="21" name="Рисунок 20" descr="Передача со сплошной заливкой">
            <a:extLst>
              <a:ext uri="{FF2B5EF4-FFF2-40B4-BE49-F238E27FC236}">
                <a16:creationId xmlns:a16="http://schemas.microsoft.com/office/drawing/2014/main" id="{12790B77-ADEA-44AD-8C85-F8E2B9EF0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8142" y="5285188"/>
            <a:ext cx="914400" cy="914400"/>
          </a:xfrm>
          <a:prstGeom prst="rect">
            <a:avLst/>
          </a:prstGeom>
        </p:spPr>
      </p:pic>
      <p:pic>
        <p:nvPicPr>
          <p:cNvPr id="22" name="Рисунок 21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7F15ED69-BC9A-48F3-AD5E-1DBD83D9A6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0235" y="5179311"/>
            <a:ext cx="914400" cy="914400"/>
          </a:xfrm>
          <a:prstGeom prst="rect">
            <a:avLst/>
          </a:prstGeom>
        </p:spPr>
      </p:pic>
      <p:pic>
        <p:nvPicPr>
          <p:cNvPr id="23" name="Рисунок 22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B0DBFDA3-7F15-49BC-AD2E-CC9A85CD73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5833" y="5248137"/>
            <a:ext cx="914400" cy="9144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B8D2B8-BA04-49AC-9920-BB3C1E68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387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350" y="118559"/>
            <a:ext cx="6229350" cy="2343150"/>
          </a:xfrm>
        </p:spPr>
        <p:txBody>
          <a:bodyPr>
            <a:normAutofit/>
          </a:bodyPr>
          <a:lstStyle/>
          <a:p>
            <a:r>
              <a:rPr lang="ru-RU" sz="2200" dirty="0">
                <a:solidFill>
                  <a:srgbClr val="3E2E2A"/>
                </a:solidFill>
                <a:latin typeface="Lora" pitchFamily="2" charset="-52"/>
              </a:rPr>
              <a:t>Крупнейшая облачная платформа для совместной разработки программного обеспечения, основанная на системе контроля версий </a:t>
            </a:r>
            <a:r>
              <a:rPr lang="ru-RU" sz="2200" b="1" u="none" strike="noStrike" dirty="0" err="1">
                <a:solidFill>
                  <a:srgbClr val="3E2E2A"/>
                </a:solidFill>
                <a:effectLst/>
                <a:latin typeface="Lora" pitchFamily="2" charset="-52"/>
              </a:rPr>
              <a:t>Git</a:t>
            </a:r>
            <a:endParaRPr lang="ru-RU" sz="22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5B19D-9DD0-4B6F-AA5A-D9D480F9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817" y="2499129"/>
            <a:ext cx="6849087" cy="1445417"/>
          </a:xfrm>
        </p:spPr>
        <p:txBody>
          <a:bodyPr>
            <a:normAutofit/>
          </a:bodyPr>
          <a:lstStyle/>
          <a:p>
            <a:pPr marL="0" lvl="0" indent="0">
              <a:lnSpc>
                <a:spcPts val="1800"/>
              </a:lnSpc>
              <a:buSzPts val="1000"/>
              <a:buNone/>
              <a:tabLst>
                <a:tab pos="457200" algn="l"/>
              </a:tabLst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</a:rPr>
              <a:t>GitHub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</a:rPr>
              <a:t> дает доступ к </a:t>
            </a:r>
            <a:r>
              <a:rPr lang="ru-RU" sz="2000" i="0" dirty="0">
                <a:solidFill>
                  <a:srgbClr val="C87A5A"/>
                </a:solidFill>
                <a:effectLst/>
                <a:latin typeface="Lora" pitchFamily="2" charset="-52"/>
              </a:rPr>
              <a:t>репозиториям, файлам, логам и метаданным в режиме реального времени, служит связующим звеном между облачным ассистентом и моим компьютером.</a:t>
            </a:r>
            <a:endParaRPr lang="ru-RU" sz="2000" dirty="0">
              <a:solidFill>
                <a:srgbClr val="C87A5A"/>
              </a:solidFill>
              <a:effectLst/>
              <a:latin typeface="Lora" pitchFamily="2" charset="-52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3CFB9-5CFA-4F74-B353-3F6F2FA90357}"/>
              </a:ext>
            </a:extLst>
          </p:cNvPr>
          <p:cNvSpPr/>
          <p:nvPr/>
        </p:nvSpPr>
        <p:spPr>
          <a:xfrm>
            <a:off x="409575" y="542131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</a:rPr>
              <a:t>Набор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2F6C11-19DB-46B8-94EE-D8B91CE3EC57}"/>
              </a:ext>
            </a:extLst>
          </p:cNvPr>
          <p:cNvSpPr/>
          <p:nvPr/>
        </p:nvSpPr>
        <p:spPr>
          <a:xfrm>
            <a:off x="409575" y="1774030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Qwen</a:t>
            </a:r>
            <a:r>
              <a:rPr lang="en-US" dirty="0">
                <a:solidFill>
                  <a:srgbClr val="3E2E2A"/>
                </a:solidFill>
              </a:rPr>
              <a:t> studio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934AA9-AB53-42AB-A87D-0252B8724D39}"/>
              </a:ext>
            </a:extLst>
          </p:cNvPr>
          <p:cNvSpPr/>
          <p:nvPr/>
        </p:nvSpPr>
        <p:spPr>
          <a:xfrm>
            <a:off x="409575" y="3076177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C87A5A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GitHab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E697DB8-D947-495F-8EFC-586A27DF935B}"/>
              </a:ext>
            </a:extLst>
          </p:cNvPr>
          <p:cNvSpPr/>
          <p:nvPr/>
        </p:nvSpPr>
        <p:spPr>
          <a:xfrm>
            <a:off x="409575" y="4416424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GitBash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8D5219-C8A2-4D43-97B3-2B23127A925F}"/>
              </a:ext>
            </a:extLst>
          </p:cNvPr>
          <p:cNvSpPr/>
          <p:nvPr/>
        </p:nvSpPr>
        <p:spPr>
          <a:xfrm>
            <a:off x="409575" y="5611019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E2E2A"/>
                </a:solidFill>
              </a:rPr>
              <a:t>Excel </a:t>
            </a:r>
            <a:r>
              <a:rPr lang="ru-RU" dirty="0">
                <a:solidFill>
                  <a:srgbClr val="3E2E2A"/>
                </a:solidFill>
              </a:rPr>
              <a:t>от</a:t>
            </a:r>
            <a:r>
              <a:rPr lang="en-US" dirty="0">
                <a:solidFill>
                  <a:srgbClr val="3E2E2A"/>
                </a:solidFill>
              </a:rPr>
              <a:t> Microsoft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735659-0ED6-4FC9-A560-B3EC4F556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838" y="-296922"/>
            <a:ext cx="5382284" cy="3036793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5C88A6D4-1F69-41FD-8C37-A1A34653E3B7}"/>
              </a:ext>
            </a:extLst>
          </p:cNvPr>
          <p:cNvSpPr/>
          <p:nvPr/>
        </p:nvSpPr>
        <p:spPr>
          <a:xfrm>
            <a:off x="3147695" y="4911414"/>
            <a:ext cx="8634730" cy="1404455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C784CD10-13B9-4ED2-B923-AF046DC8A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2406" y="4996593"/>
            <a:ext cx="1072654" cy="1072654"/>
          </a:xfrm>
          <a:prstGeom prst="rect">
            <a:avLst/>
          </a:prstGeom>
        </p:spPr>
      </p:pic>
      <p:pic>
        <p:nvPicPr>
          <p:cNvPr id="12" name="Рисунок 11" descr="Робот со сплошной заливкой">
            <a:extLst>
              <a:ext uri="{FF2B5EF4-FFF2-40B4-BE49-F238E27FC236}">
                <a16:creationId xmlns:a16="http://schemas.microsoft.com/office/drawing/2014/main" id="{74107304-A9F5-4CFD-8905-39BEB8F3D8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7357" y="5061915"/>
            <a:ext cx="1103454" cy="1103454"/>
          </a:xfrm>
          <a:prstGeom prst="rect">
            <a:avLst/>
          </a:prstGeom>
        </p:spPr>
      </p:pic>
      <p:pic>
        <p:nvPicPr>
          <p:cNvPr id="13" name="Рисунок 12" descr="Передача со сплошной заливкой">
            <a:extLst>
              <a:ext uri="{FF2B5EF4-FFF2-40B4-BE49-F238E27FC236}">
                <a16:creationId xmlns:a16="http://schemas.microsoft.com/office/drawing/2014/main" id="{ECE8E9D1-7E9A-4425-93F5-7FF8A694A8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0164" y="5156442"/>
            <a:ext cx="914400" cy="914400"/>
          </a:xfrm>
          <a:prstGeom prst="rect">
            <a:avLst/>
          </a:prstGeom>
        </p:spPr>
      </p:pic>
      <p:pic>
        <p:nvPicPr>
          <p:cNvPr id="14" name="Рисунок 13" descr="Передача со сплошной заливкой">
            <a:extLst>
              <a:ext uri="{FF2B5EF4-FFF2-40B4-BE49-F238E27FC236}">
                <a16:creationId xmlns:a16="http://schemas.microsoft.com/office/drawing/2014/main" id="{39DE04AA-2A25-4B08-B0E3-8A3F9A7848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0122" y="5156442"/>
            <a:ext cx="914400" cy="914400"/>
          </a:xfrm>
          <a:prstGeom prst="rect">
            <a:avLst/>
          </a:prstGeom>
        </p:spPr>
      </p:pic>
      <p:pic>
        <p:nvPicPr>
          <p:cNvPr id="15" name="Рисунок 14" descr="Компьютер со сплошной заливкой">
            <a:extLst>
              <a:ext uri="{FF2B5EF4-FFF2-40B4-BE49-F238E27FC236}">
                <a16:creationId xmlns:a16="http://schemas.microsoft.com/office/drawing/2014/main" id="{6618FB6A-326A-4228-8C5D-3556A2DA42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59301" y="5086856"/>
            <a:ext cx="1053572" cy="1053572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2FD94AC-3566-42BD-9B9B-37641F5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153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3075" y="584199"/>
            <a:ext cx="6229350" cy="132556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Lora" pitchFamily="2" charset="-52"/>
              </a:rPr>
              <a:t>приложение для Windows, которое эмулирует среду командной строки Linux/</a:t>
            </a:r>
            <a:r>
              <a:rPr lang="ru-RU" sz="2400" dirty="0" err="1">
                <a:latin typeface="Lora" pitchFamily="2" charset="-52"/>
              </a:rPr>
              <a:t>macOS</a:t>
            </a:r>
            <a:r>
              <a:rPr lang="ru-RU" sz="2400" dirty="0">
                <a:latin typeface="Lora" pitchFamily="2" charset="-52"/>
              </a:rPr>
              <a:t>. Название состоит из двух слов: </a:t>
            </a:r>
            <a:r>
              <a:rPr lang="ru-RU" sz="2400" b="1" u="none" strike="noStrike" dirty="0" err="1">
                <a:effectLst/>
                <a:latin typeface="Lora" pitchFamily="2" charset="-52"/>
              </a:rPr>
              <a:t>Git</a:t>
            </a:r>
            <a:r>
              <a:rPr lang="ru-RU" sz="2400" dirty="0">
                <a:latin typeface="Lora" pitchFamily="2" charset="-52"/>
              </a:rPr>
              <a:t> (система контроля версий) и </a:t>
            </a:r>
            <a:r>
              <a:rPr lang="ru-RU" sz="2400" b="1" u="none" strike="noStrike" dirty="0" err="1">
                <a:effectLst/>
                <a:latin typeface="Lora" pitchFamily="2" charset="-52"/>
              </a:rPr>
              <a:t>Bash</a:t>
            </a:r>
            <a:r>
              <a:rPr lang="ru-RU" sz="2400" dirty="0">
                <a:latin typeface="Lora" pitchFamily="2" charset="-52"/>
              </a:rPr>
              <a:t> (популярная командная оболочка)</a:t>
            </a:r>
            <a:endParaRPr lang="ru-RU" sz="24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5B19D-9DD0-4B6F-AA5A-D9D480F9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241" y="2934887"/>
            <a:ext cx="6229350" cy="1486694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C87A5A"/>
                </a:solidFill>
                <a:effectLst/>
                <a:latin typeface="Inter"/>
              </a:rPr>
              <a:t>Git Bash </a:t>
            </a:r>
            <a:r>
              <a:rPr lang="ru-RU" b="0" i="0" dirty="0">
                <a:solidFill>
                  <a:srgbClr val="C87A5A"/>
                </a:solidFill>
                <a:effectLst/>
                <a:latin typeface="Inter"/>
              </a:rPr>
              <a:t>выступает, как локальный посредник. Отдаешь команду, забираешь или отправляешь данные.</a:t>
            </a:r>
            <a:endParaRPr lang="ru-RU" dirty="0">
              <a:solidFill>
                <a:srgbClr val="C87A5A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3CFB9-5CFA-4F74-B353-3F6F2FA90357}"/>
              </a:ext>
            </a:extLst>
          </p:cNvPr>
          <p:cNvSpPr/>
          <p:nvPr/>
        </p:nvSpPr>
        <p:spPr>
          <a:xfrm>
            <a:off x="409575" y="542131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</a:rPr>
              <a:t>Набор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2F6C11-19DB-46B8-94EE-D8B91CE3EC57}"/>
              </a:ext>
            </a:extLst>
          </p:cNvPr>
          <p:cNvSpPr/>
          <p:nvPr/>
        </p:nvSpPr>
        <p:spPr>
          <a:xfrm>
            <a:off x="409575" y="1774030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Qwen</a:t>
            </a:r>
            <a:r>
              <a:rPr lang="en-US" dirty="0">
                <a:solidFill>
                  <a:srgbClr val="3E2E2A"/>
                </a:solidFill>
              </a:rPr>
              <a:t> studio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934AA9-AB53-42AB-A87D-0252B8724D39}"/>
              </a:ext>
            </a:extLst>
          </p:cNvPr>
          <p:cNvSpPr/>
          <p:nvPr/>
        </p:nvSpPr>
        <p:spPr>
          <a:xfrm>
            <a:off x="409575" y="3076177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GitHab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E697DB8-D947-495F-8EFC-586A27DF935B}"/>
              </a:ext>
            </a:extLst>
          </p:cNvPr>
          <p:cNvSpPr/>
          <p:nvPr/>
        </p:nvSpPr>
        <p:spPr>
          <a:xfrm>
            <a:off x="409575" y="4416424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C87A5A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GitBash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8D5219-C8A2-4D43-97B3-2B23127A925F}"/>
              </a:ext>
            </a:extLst>
          </p:cNvPr>
          <p:cNvSpPr/>
          <p:nvPr/>
        </p:nvSpPr>
        <p:spPr>
          <a:xfrm>
            <a:off x="409575" y="5611019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E2E2A"/>
                </a:solidFill>
              </a:rPr>
              <a:t>Excel </a:t>
            </a:r>
            <a:r>
              <a:rPr lang="ru-RU" dirty="0">
                <a:solidFill>
                  <a:srgbClr val="3E2E2A"/>
                </a:solidFill>
              </a:rPr>
              <a:t>от</a:t>
            </a:r>
            <a:r>
              <a:rPr lang="en-US" dirty="0">
                <a:solidFill>
                  <a:srgbClr val="3E2E2A"/>
                </a:solidFill>
              </a:rPr>
              <a:t> Microsoft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3AE8DA9-32E7-4659-8E91-ADA77DF2C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237" y="335755"/>
            <a:ext cx="2143125" cy="2143125"/>
          </a:xfrm>
          <a:prstGeom prst="rect">
            <a:avLst/>
          </a:prstGeom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D93240F-2FA9-47FE-9549-9F05C4EE40FE}"/>
              </a:ext>
            </a:extLst>
          </p:cNvPr>
          <p:cNvSpPr/>
          <p:nvPr/>
        </p:nvSpPr>
        <p:spPr>
          <a:xfrm>
            <a:off x="3147695" y="4948239"/>
            <a:ext cx="8634730" cy="1404455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Компьютер со сплошной заливкой">
            <a:extLst>
              <a:ext uri="{FF2B5EF4-FFF2-40B4-BE49-F238E27FC236}">
                <a16:creationId xmlns:a16="http://schemas.microsoft.com/office/drawing/2014/main" id="{734E6427-4DAD-4951-B35E-FBB572C8D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8147" y="5193267"/>
            <a:ext cx="914400" cy="914400"/>
          </a:xfrm>
          <a:prstGeom prst="rect">
            <a:avLst/>
          </a:prstGeom>
        </p:spPr>
      </p:pic>
      <p:pic>
        <p:nvPicPr>
          <p:cNvPr id="14" name="Рисунок 13" descr="Передача со сплошной заливкой">
            <a:extLst>
              <a:ext uri="{FF2B5EF4-FFF2-40B4-BE49-F238E27FC236}">
                <a16:creationId xmlns:a16="http://schemas.microsoft.com/office/drawing/2014/main" id="{E29AC189-88AD-4649-B19F-391DDA89C6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5060" y="5193267"/>
            <a:ext cx="914400" cy="914400"/>
          </a:xfrm>
          <a:prstGeom prst="rect">
            <a:avLst/>
          </a:prstGeom>
        </p:spPr>
      </p:pic>
      <p:pic>
        <p:nvPicPr>
          <p:cNvPr id="15" name="Рисунок 14" descr="Передача со сплошной заливкой">
            <a:extLst>
              <a:ext uri="{FF2B5EF4-FFF2-40B4-BE49-F238E27FC236}">
                <a16:creationId xmlns:a16="http://schemas.microsoft.com/office/drawing/2014/main" id="{278C17F9-FDC8-443F-8891-A33E9DA15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2910" y="5193267"/>
            <a:ext cx="914400" cy="914400"/>
          </a:xfrm>
          <a:prstGeom prst="rect">
            <a:avLst/>
          </a:prstGeom>
        </p:spPr>
      </p:pic>
      <p:pic>
        <p:nvPicPr>
          <p:cNvPr id="17" name="Рисунок 16" descr="Субтитры со сплошной заливкой">
            <a:extLst>
              <a:ext uri="{FF2B5EF4-FFF2-40B4-BE49-F238E27FC236}">
                <a16:creationId xmlns:a16="http://schemas.microsoft.com/office/drawing/2014/main" id="{8DD861A3-05D5-4310-BC57-7AAAB45F30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3985" y="5238774"/>
            <a:ext cx="914400" cy="914400"/>
          </a:xfrm>
          <a:prstGeom prst="rect">
            <a:avLst/>
          </a:prstGeom>
        </p:spPr>
      </p:pic>
      <p:pic>
        <p:nvPicPr>
          <p:cNvPr id="22" name="Рисунок 21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D7E9352D-3D7C-453E-8919-CCC9C25976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9460" y="5159647"/>
            <a:ext cx="1072654" cy="1072654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DF1706-4B0C-452C-8F02-4D5DFC96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784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E0B753B-749D-4C74-84F2-BA4CC41DC1C4}"/>
              </a:ext>
            </a:extLst>
          </p:cNvPr>
          <p:cNvSpPr/>
          <p:nvPr/>
        </p:nvSpPr>
        <p:spPr>
          <a:xfrm>
            <a:off x="3147695" y="4925061"/>
            <a:ext cx="8634730" cy="1404455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B317-EB9E-4E1A-A681-C4C3C5A1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7630"/>
            <a:ext cx="5676900" cy="27051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Excel от Microsoft по-прежнему остается самым популярным инструментом для хранения и первичной обработки табличных данных. </a:t>
            </a:r>
            <a:endParaRPr lang="ru-RU" sz="24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5B19D-9DD0-4B6F-AA5A-D9D480F9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0" y="3647152"/>
            <a:ext cx="7054850" cy="1262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C2B9AD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Тем не менее, ручная обработка больших или неструктурированных массивов данных является сложной задачей и подвержена человеческим ошибкам</a:t>
            </a:r>
            <a:endParaRPr lang="ru-RU" sz="2000" dirty="0">
              <a:solidFill>
                <a:srgbClr val="C2B9AD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3CFB9-5CFA-4F74-B353-3F6F2FA90357}"/>
              </a:ext>
            </a:extLst>
          </p:cNvPr>
          <p:cNvSpPr/>
          <p:nvPr/>
        </p:nvSpPr>
        <p:spPr>
          <a:xfrm>
            <a:off x="409575" y="542131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</a:rPr>
              <a:t>Набор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2F6C11-19DB-46B8-94EE-D8B91CE3EC57}"/>
              </a:ext>
            </a:extLst>
          </p:cNvPr>
          <p:cNvSpPr/>
          <p:nvPr/>
        </p:nvSpPr>
        <p:spPr>
          <a:xfrm>
            <a:off x="409575" y="1774030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Qwen</a:t>
            </a:r>
            <a:r>
              <a:rPr lang="en-US" dirty="0">
                <a:solidFill>
                  <a:srgbClr val="3E2E2A"/>
                </a:solidFill>
              </a:rPr>
              <a:t> studio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2934AA9-AB53-42AB-A87D-0252B8724D39}"/>
              </a:ext>
            </a:extLst>
          </p:cNvPr>
          <p:cNvSpPr/>
          <p:nvPr/>
        </p:nvSpPr>
        <p:spPr>
          <a:xfrm>
            <a:off x="409575" y="3076177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GitHab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E697DB8-D947-495F-8EFC-586A27DF935B}"/>
              </a:ext>
            </a:extLst>
          </p:cNvPr>
          <p:cNvSpPr/>
          <p:nvPr/>
        </p:nvSpPr>
        <p:spPr>
          <a:xfrm>
            <a:off x="409575" y="4416424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F2E6D6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3E2E2A"/>
                </a:solidFill>
              </a:rPr>
              <a:t>GitBash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28D5219-C8A2-4D43-97B3-2B23127A925F}"/>
              </a:ext>
            </a:extLst>
          </p:cNvPr>
          <p:cNvSpPr/>
          <p:nvPr/>
        </p:nvSpPr>
        <p:spPr>
          <a:xfrm>
            <a:off x="409575" y="5611019"/>
            <a:ext cx="2324100" cy="704850"/>
          </a:xfrm>
          <a:prstGeom prst="roundRect">
            <a:avLst>
              <a:gd name="adj" fmla="val 50000"/>
            </a:avLst>
          </a:prstGeom>
          <a:solidFill>
            <a:srgbClr val="C87A5A"/>
          </a:solidFill>
          <a:scene3d>
            <a:camera prst="orthographicFront"/>
            <a:lightRig rig="threePt" dir="t"/>
          </a:scene3d>
          <a:sp3d extrusionH="127000" contourW="63500">
            <a:bevelT w="127000" h="127000"/>
            <a:bevelB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E2E2A"/>
                </a:solidFill>
              </a:rPr>
              <a:t>Excel </a:t>
            </a:r>
            <a:r>
              <a:rPr lang="ru-RU" dirty="0">
                <a:solidFill>
                  <a:srgbClr val="3E2E2A"/>
                </a:solidFill>
              </a:rPr>
              <a:t>от</a:t>
            </a:r>
            <a:r>
              <a:rPr lang="en-US" dirty="0">
                <a:solidFill>
                  <a:srgbClr val="3E2E2A"/>
                </a:solidFill>
              </a:rPr>
              <a:t> Microsoft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69799F9-C5EE-433D-A560-22E471D91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55" y="396080"/>
            <a:ext cx="3517008" cy="2048200"/>
          </a:xfrm>
          <a:prstGeom prst="rect">
            <a:avLst/>
          </a:prstGeom>
        </p:spPr>
      </p:pic>
      <p:pic>
        <p:nvPicPr>
          <p:cNvPr id="17" name="Рисунок 16" descr="Документ со сплошной заливкой">
            <a:extLst>
              <a:ext uri="{FF2B5EF4-FFF2-40B4-BE49-F238E27FC236}">
                <a16:creationId xmlns:a16="http://schemas.microsoft.com/office/drawing/2014/main" id="{34A020DF-183F-4607-89F4-83D72032B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5525" y="5205256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0B1BCE8-10CF-46EA-891B-4C9398994FC6}"/>
              </a:ext>
            </a:extLst>
          </p:cNvPr>
          <p:cNvSpPr txBox="1"/>
          <p:nvPr/>
        </p:nvSpPr>
        <p:spPr>
          <a:xfrm>
            <a:off x="3746500" y="2691773"/>
            <a:ext cx="726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87A5A"/>
                </a:solidFill>
                <a:latin typeface="Lora" pitchFamily="2" charset="-52"/>
              </a:rPr>
              <a:t>Целью работы является получит готовый 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Excel файл с полным анализом </a:t>
            </a:r>
            <a:r>
              <a:rPr lang="ru-RU" sz="2000" b="0" i="0" dirty="0">
                <a:solidFill>
                  <a:srgbClr val="C87A5A"/>
                </a:solidFill>
                <a:effectLst/>
                <a:latin typeface="Lora" pitchFamily="2" charset="-52"/>
              </a:rPr>
              <a:t>EDA</a:t>
            </a:r>
            <a:endParaRPr lang="ru-RU" sz="2000" dirty="0">
              <a:solidFill>
                <a:srgbClr val="C87A5A"/>
              </a:solidFill>
              <a:latin typeface="Lora" pitchFamily="2" charset="-52"/>
            </a:endParaRPr>
          </a:p>
        </p:txBody>
      </p:sp>
      <p:pic>
        <p:nvPicPr>
          <p:cNvPr id="19" name="Рисунок 18" descr="Передача со сплошной заливкой">
            <a:extLst>
              <a:ext uri="{FF2B5EF4-FFF2-40B4-BE49-F238E27FC236}">
                <a16:creationId xmlns:a16="http://schemas.microsoft.com/office/drawing/2014/main" id="{62ED2F20-96AD-4595-AA65-833301B61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9750" y="5157636"/>
            <a:ext cx="914400" cy="914400"/>
          </a:xfrm>
          <a:prstGeom prst="rect">
            <a:avLst/>
          </a:prstGeom>
        </p:spPr>
      </p:pic>
      <p:pic>
        <p:nvPicPr>
          <p:cNvPr id="20" name="Рисунок 19" descr="Передача со сплошной заливкой">
            <a:extLst>
              <a:ext uri="{FF2B5EF4-FFF2-40B4-BE49-F238E27FC236}">
                <a16:creationId xmlns:a16="http://schemas.microsoft.com/office/drawing/2014/main" id="{E11D7FE1-A088-4C5E-9369-28150DD25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3725" y="5205256"/>
            <a:ext cx="914400" cy="914400"/>
          </a:xfrm>
          <a:prstGeom prst="rect">
            <a:avLst/>
          </a:prstGeom>
        </p:spPr>
      </p:pic>
      <p:pic>
        <p:nvPicPr>
          <p:cNvPr id="21" name="Рисунок 20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5F6F11DE-36C9-4CEA-87B4-6324D18A57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7325" y="5205256"/>
            <a:ext cx="914400" cy="914400"/>
          </a:xfrm>
          <a:prstGeom prst="rect">
            <a:avLst/>
          </a:prstGeom>
        </p:spPr>
      </p:pic>
      <p:pic>
        <p:nvPicPr>
          <p:cNvPr id="22" name="Рисунок 21" descr="Робот со сплошной заливкой">
            <a:extLst>
              <a:ext uri="{FF2B5EF4-FFF2-40B4-BE49-F238E27FC236}">
                <a16:creationId xmlns:a16="http://schemas.microsoft.com/office/drawing/2014/main" id="{14AB53FE-6496-4648-8BF9-9DF341F3B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93720" y="5016032"/>
            <a:ext cx="1197609" cy="1197609"/>
          </a:xfrm>
          <a:prstGeom prst="rect">
            <a:avLst/>
          </a:prstGeom>
        </p:spPr>
      </p:pic>
      <p:pic>
        <p:nvPicPr>
          <p:cNvPr id="23" name="Рисунок 22" descr="Облачные вычисления со сплошной заливкой">
            <a:extLst>
              <a:ext uri="{FF2B5EF4-FFF2-40B4-BE49-F238E27FC236}">
                <a16:creationId xmlns:a16="http://schemas.microsoft.com/office/drawing/2014/main" id="{59DF5D67-FA02-43CE-9FFA-4A5B7460E2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8125" y="5200660"/>
            <a:ext cx="914400" cy="914400"/>
          </a:xfrm>
          <a:prstGeom prst="rect">
            <a:avLst/>
          </a:prstGeom>
        </p:spPr>
      </p:pic>
      <p:pic>
        <p:nvPicPr>
          <p:cNvPr id="24" name="Рисунок 23" descr="Передача со сплошной заливкой">
            <a:extLst>
              <a:ext uri="{FF2B5EF4-FFF2-40B4-BE49-F238E27FC236}">
                <a16:creationId xmlns:a16="http://schemas.microsoft.com/office/drawing/2014/main" id="{88BED4E9-5716-4280-95FE-521CA0649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2525" y="5200660"/>
            <a:ext cx="914400" cy="914400"/>
          </a:xfrm>
          <a:prstGeom prst="rect">
            <a:avLst/>
          </a:prstGeom>
        </p:spPr>
      </p:pic>
      <p:pic>
        <p:nvPicPr>
          <p:cNvPr id="25" name="Рисунок 24" descr="Субтитры со сплошной заливкой">
            <a:extLst>
              <a:ext uri="{FF2B5EF4-FFF2-40B4-BE49-F238E27FC236}">
                <a16:creationId xmlns:a16="http://schemas.microsoft.com/office/drawing/2014/main" id="{9FCBA52F-566E-41AE-9B28-EFD3A8C79B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93125" y="5200660"/>
            <a:ext cx="914400" cy="914400"/>
          </a:xfrm>
          <a:prstGeom prst="rect">
            <a:avLst/>
          </a:prstGeom>
        </p:spPr>
      </p:pic>
      <p:pic>
        <p:nvPicPr>
          <p:cNvPr id="26" name="Рисунок 25" descr="Компьютер со сплошной заливкой">
            <a:extLst>
              <a:ext uri="{FF2B5EF4-FFF2-40B4-BE49-F238E27FC236}">
                <a16:creationId xmlns:a16="http://schemas.microsoft.com/office/drawing/2014/main" id="{A5AE50BB-1673-4641-97FD-5C3CE6A724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18776" y="5200660"/>
            <a:ext cx="914400" cy="9144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5724B9D-E474-420A-BBA9-7CA8EC05188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4783" y="2237579"/>
            <a:ext cx="1409573" cy="1409573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99749F3-4F3F-441D-84AA-F2D73B8F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148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CBFD6C0-347F-4808-B627-1B0435CEEA62}"/>
              </a:ext>
            </a:extLst>
          </p:cNvPr>
          <p:cNvSpPr/>
          <p:nvPr/>
        </p:nvSpPr>
        <p:spPr>
          <a:xfrm>
            <a:off x="-762000" y="-660400"/>
            <a:ext cx="13627100" cy="8216900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8675C0-4B80-496A-8149-D3938C034F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9FA69-F27D-465A-829F-4A01CA6423AB}"/>
              </a:ext>
            </a:extLst>
          </p:cNvPr>
          <p:cNvSpPr txBox="1"/>
          <p:nvPr/>
        </p:nvSpPr>
        <p:spPr>
          <a:xfrm>
            <a:off x="2508250" y="266700"/>
            <a:ext cx="717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Нам понадобиться набор команд для </a:t>
            </a:r>
            <a:r>
              <a:rPr lang="ru-RU" sz="2400" dirty="0" err="1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400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Bash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98D3C-A2C0-49AD-A48E-E3D6A0204E8F}"/>
              </a:ext>
            </a:extLst>
          </p:cNvPr>
          <p:cNvSpPr txBox="1"/>
          <p:nvPr/>
        </p:nvSpPr>
        <p:spPr>
          <a:xfrm>
            <a:off x="482600" y="1005364"/>
            <a:ext cx="87630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cd Desktop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/ (Переход на рабочий стол)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"diploma-analysis" (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создание папки</a:t>
            </a: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endParaRPr lang="ru-RU" sz="2000" dirty="0">
              <a:solidFill>
                <a:srgbClr val="C87A5A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cd diploma-analysis/ (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переход в папку</a:t>
            </a: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«diploma-analysis»)</a:t>
            </a:r>
            <a:endParaRPr lang="ru-RU" sz="2000" dirty="0">
              <a:solidFill>
                <a:srgbClr val="C87A5A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Courier New" panose="02070309020205020404" pitchFamily="49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Инициализация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-репозитория)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echo "# diploma-analysis" &gt;&gt; README.md (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создание файла</a:t>
            </a: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2000" dirty="0">
              <a:solidFill>
                <a:srgbClr val="C87A5A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(проверка)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 remote add origin </a:t>
            </a:r>
            <a:r>
              <a:rPr lang="en-US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en-US" sz="2000" u="sng" dirty="0" err="1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2000" u="sng" dirty="0" err="1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svetnoch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diploma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</a:t>
            </a:r>
            <a:r>
              <a:rPr lang="ru-RU" sz="2000" u="sng" dirty="0">
                <a:solidFill>
                  <a:srgbClr val="0563C1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2000" u="sng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(Привязка удалённого репозитория (делается один раз))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--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user.name "Светлана" (настройка имени, делается один раз)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--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user.email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"aweet@mail.ru" (настройка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email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делается один раз)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. (добавление изменений)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-m "описание"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push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(отправка изменений на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pull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origin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(скачивание обновлений с </a:t>
            </a:r>
            <a:r>
              <a:rPr lang="en-US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 </a:t>
            </a:r>
            <a:r>
              <a:rPr lang="ru-RU" sz="20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репозитория)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4DAFD6-6F7C-412C-B074-958A8567B8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825" y="0"/>
            <a:ext cx="6864350" cy="686435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2140FA-849F-497B-B90B-D967B629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95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37DCFD7-CDCA-4159-AF15-309C6C9C61B0}"/>
              </a:ext>
            </a:extLst>
          </p:cNvPr>
          <p:cNvSpPr/>
          <p:nvPr/>
        </p:nvSpPr>
        <p:spPr>
          <a:xfrm>
            <a:off x="9137879" y="7665108"/>
            <a:ext cx="2983981" cy="1424706"/>
          </a:xfrm>
          <a:prstGeom prst="roundRect">
            <a:avLst/>
          </a:prstGeom>
          <a:solidFill>
            <a:schemeClr val="bg1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Цель</a:t>
            </a:r>
            <a:r>
              <a:rPr lang="ru-RU" dirty="0">
                <a:solidFill>
                  <a:srgbClr val="3E2E2A"/>
                </a:solidFill>
              </a:rPr>
              <a:t> </a:t>
            </a:r>
            <a:r>
              <a:rPr lang="ru-RU" dirty="0">
                <a:solidFill>
                  <a:srgbClr val="3E2E2A"/>
                </a:solidFill>
                <a:sym typeface="Wingdings" panose="05000000000000000000" pitchFamily="2" charset="2"/>
              </a:rPr>
              <a:t></a:t>
            </a:r>
            <a:endParaRPr lang="ru-RU" dirty="0">
              <a:solidFill>
                <a:srgbClr val="3E2E2A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65AF10-3DFD-4238-9286-0CCB01ADD8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9FCC0-EED3-40B4-AE6F-B3D42E9B1776}"/>
              </a:ext>
            </a:extLst>
          </p:cNvPr>
          <p:cNvSpPr txBox="1"/>
          <p:nvPr/>
        </p:nvSpPr>
        <p:spPr>
          <a:xfrm>
            <a:off x="3448050" y="508000"/>
            <a:ext cx="529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>
                <a:solidFill>
                  <a:srgbClr val="3E2E2A"/>
                </a:solidFill>
                <a:latin typeface="Lora" pitchFamily="2" charset="-52"/>
              </a:rPr>
              <a:t>Промпт</a:t>
            </a:r>
            <a:endParaRPr lang="ru-RU" sz="2400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B550F-8668-497E-9097-5D581335D684}"/>
              </a:ext>
            </a:extLst>
          </p:cNvPr>
          <p:cNvSpPr txBox="1"/>
          <p:nvPr/>
        </p:nvSpPr>
        <p:spPr>
          <a:xfrm>
            <a:off x="203200" y="969665"/>
            <a:ext cx="11506200" cy="6150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Роль → </a:t>
            </a:r>
            <a:r>
              <a:rPr lang="en-US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Senior Data Analyst </a:t>
            </a: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 экспертизой в анализе систем безопасности </a:t>
            </a:r>
            <a:r>
              <a:rPr lang="en-US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-агентов и </a:t>
            </a:r>
            <a:r>
              <a:rPr lang="en-US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access control</a:t>
            </a: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систем.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Задача → Проведи полный EDA из файла «Набор данных» с фокусом на: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1. Общий обзор данных:</a:t>
            </a:r>
          </a:p>
          <a:p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2. Анализ распределений (гистограммы и диаграммы):</a:t>
            </a:r>
          </a:p>
          <a:p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3. Выявление аномалий (ключевой блок):</a:t>
            </a:r>
          </a:p>
          <a:p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4. Корреляции и взаимосвязи:</a:t>
            </a:r>
          </a:p>
          <a:p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5. Паттерны блокировок: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Форма ответа →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Создай файл </a:t>
            </a:r>
            <a:r>
              <a:rPr lang="en-US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в котором будет находится полный анализ </a:t>
            </a:r>
            <a:r>
              <a:rPr lang="en-US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EDA</a:t>
            </a: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Визуализации с описанием: для каждой укажи тип графики → что показывает → инсайт для бизнеса.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Есть файл → есть четкое задание → нужен четкий ответ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Ограничения →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Язык текста: русский;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Не делать предположений о данных, которых нет;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C87A5A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Не придумывать новую информацию.</a:t>
            </a:r>
          </a:p>
          <a:p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35DD001-480D-4C76-8F26-6B33A62FEAB4}"/>
              </a:ext>
            </a:extLst>
          </p:cNvPr>
          <p:cNvSpPr/>
          <p:nvPr/>
        </p:nvSpPr>
        <p:spPr>
          <a:xfrm>
            <a:off x="6309077" y="-2211026"/>
            <a:ext cx="2870200" cy="1424706"/>
          </a:xfrm>
          <a:prstGeom prst="roundRect">
            <a:avLst/>
          </a:prstGeom>
          <a:solidFill>
            <a:srgbClr val="3E2E2A"/>
          </a:solidFill>
          <a:ln>
            <a:solidFill>
              <a:srgbClr val="F2E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2E6D6"/>
                </a:solidFill>
                <a:latin typeface="Lora" pitchFamily="2" charset="-52"/>
              </a:rPr>
              <a:t>Делает человек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9015AD1-E3C8-43DA-A612-14AEEE2C519C}"/>
              </a:ext>
            </a:extLst>
          </p:cNvPr>
          <p:cNvSpPr/>
          <p:nvPr/>
        </p:nvSpPr>
        <p:spPr>
          <a:xfrm>
            <a:off x="7879080" y="-4379368"/>
            <a:ext cx="2870200" cy="1424706"/>
          </a:xfrm>
          <a:prstGeom prst="roundRect">
            <a:avLst/>
          </a:prstGeom>
          <a:solidFill>
            <a:srgbClr val="F2E6D6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Делает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2366985-4C37-40EB-8FFC-D4711D780F6F}"/>
              </a:ext>
            </a:extLst>
          </p:cNvPr>
          <p:cNvSpPr/>
          <p:nvPr/>
        </p:nvSpPr>
        <p:spPr>
          <a:xfrm>
            <a:off x="9912719" y="-2168342"/>
            <a:ext cx="2870200" cy="1424706"/>
          </a:xfrm>
          <a:prstGeom prst="roundRect">
            <a:avLst/>
          </a:prstGeom>
          <a:solidFill>
            <a:srgbClr val="C87A5A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rgbClr val="3E2E2A"/>
                </a:solidFill>
                <a:latin typeface="Lora" pitchFamily="2" charset="-52"/>
              </a:rPr>
              <a:t>Промпт</a:t>
            </a:r>
            <a:endParaRPr lang="ru-RU" dirty="0">
              <a:solidFill>
                <a:srgbClr val="3E2E2A"/>
              </a:solidFill>
              <a:latin typeface="Lora" pitchFamily="2" charset="-52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1E14C0A-85B9-46C3-9012-2BB863670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420" y="7727674"/>
            <a:ext cx="2338960" cy="1362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0B62D3-8F84-4106-923B-37744E4C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823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D7221120-6BAA-47D9-8B4B-80B0D61161C4}"/>
              </a:ext>
            </a:extLst>
          </p:cNvPr>
          <p:cNvSpPr/>
          <p:nvPr/>
        </p:nvSpPr>
        <p:spPr>
          <a:xfrm>
            <a:off x="7035185" y="2215395"/>
            <a:ext cx="2870200" cy="1424706"/>
          </a:xfrm>
          <a:prstGeom prst="roundRect">
            <a:avLst/>
          </a:prstGeom>
          <a:solidFill>
            <a:srgbClr val="F2E6D6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Делает ИИ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0E96A06C-1275-453E-901C-EFD1C12561C9}"/>
              </a:ext>
            </a:extLst>
          </p:cNvPr>
          <p:cNvSpPr/>
          <p:nvPr/>
        </p:nvSpPr>
        <p:spPr>
          <a:xfrm>
            <a:off x="8907916" y="325937"/>
            <a:ext cx="2870200" cy="1424706"/>
          </a:xfrm>
          <a:prstGeom prst="roundRect">
            <a:avLst/>
          </a:prstGeom>
          <a:solidFill>
            <a:srgbClr val="C87A5A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rgbClr val="3E2E2A"/>
                </a:solidFill>
                <a:latin typeface="Lora" pitchFamily="2" charset="-52"/>
              </a:rPr>
              <a:t>Промпт</a:t>
            </a:r>
            <a:endParaRPr lang="ru-RU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6A0286F-A777-4FA9-B2DB-7C263ADAAF7C}"/>
              </a:ext>
            </a:extLst>
          </p:cNvPr>
          <p:cNvSpPr/>
          <p:nvPr/>
        </p:nvSpPr>
        <p:spPr>
          <a:xfrm>
            <a:off x="4819121" y="325937"/>
            <a:ext cx="3127289" cy="1390709"/>
          </a:xfrm>
          <a:prstGeom prst="roundRect">
            <a:avLst>
              <a:gd name="adj" fmla="val 16667"/>
            </a:avLst>
          </a:prstGeom>
          <a:solidFill>
            <a:srgbClr val="3E2E2A"/>
          </a:solidFill>
          <a:ln>
            <a:solidFill>
              <a:srgbClr val="F2E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Lora" pitchFamily="2" charset="-52"/>
              </a:rPr>
              <a:t>Делает человек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EF61917-9D79-4D3D-A7D5-B199F022FD3D}"/>
              </a:ext>
            </a:extLst>
          </p:cNvPr>
          <p:cNvSpPr/>
          <p:nvPr/>
        </p:nvSpPr>
        <p:spPr>
          <a:xfrm>
            <a:off x="6978294" y="4260829"/>
            <a:ext cx="2983981" cy="1424706"/>
          </a:xfrm>
          <a:prstGeom prst="roundRect">
            <a:avLst/>
          </a:prstGeom>
          <a:solidFill>
            <a:schemeClr val="bg1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Цель</a:t>
            </a:r>
            <a:r>
              <a:rPr lang="ru-RU" dirty="0">
                <a:solidFill>
                  <a:srgbClr val="3E2E2A"/>
                </a:solidFill>
              </a:rPr>
              <a:t> </a:t>
            </a:r>
            <a:r>
              <a:rPr lang="ru-RU" dirty="0">
                <a:solidFill>
                  <a:srgbClr val="3E2E2A"/>
                </a:solidFill>
                <a:sym typeface="Wingdings" panose="05000000000000000000" pitchFamily="2" charset="2"/>
              </a:rPr>
              <a:t></a:t>
            </a:r>
            <a:endParaRPr lang="ru-RU" dirty="0">
              <a:solidFill>
                <a:srgbClr val="3E2E2A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89C805-4943-4EF5-ADBC-533BC838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436" y="4292112"/>
            <a:ext cx="2338960" cy="13621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8DA4E6-6320-4375-92E4-5965AC9A1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60" y="942716"/>
            <a:ext cx="3309652" cy="49725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302B71-A511-42EB-AC47-A6875B5C6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640" y="-226419"/>
            <a:ext cx="4865963" cy="731083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CB3CDD-9EE0-4BB3-B3F0-E1E20CA3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459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C19E3F3-477A-4575-9254-F33384775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637" y="3836978"/>
            <a:ext cx="1871232" cy="2811421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6E164A5-C158-414C-AC3E-90F581BF4934}"/>
              </a:ext>
            </a:extLst>
          </p:cNvPr>
          <p:cNvSpPr/>
          <p:nvPr/>
        </p:nvSpPr>
        <p:spPr>
          <a:xfrm>
            <a:off x="9403848" y="2458819"/>
            <a:ext cx="2133600" cy="1333500"/>
          </a:xfrm>
          <a:prstGeom prst="roundRect">
            <a:avLst/>
          </a:prstGeom>
          <a:solidFill>
            <a:srgbClr val="C87A5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rgbClr val="3E2E2A"/>
                </a:solidFill>
                <a:latin typeface="Lora" pitchFamily="2" charset="-52"/>
              </a:rPr>
              <a:t>Перенесим</a:t>
            </a:r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 все данные на мою ветку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5E36B83-87DB-4A78-8C7D-C81976795869}"/>
              </a:ext>
            </a:extLst>
          </p:cNvPr>
          <p:cNvGrpSpPr/>
          <p:nvPr/>
        </p:nvGrpSpPr>
        <p:grpSpPr>
          <a:xfrm>
            <a:off x="581212" y="462919"/>
            <a:ext cx="2133600" cy="1333500"/>
            <a:chOff x="419100" y="533400"/>
            <a:chExt cx="2133600" cy="133350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5C765BBB-6F45-49DC-BFFF-07979F585B1B}"/>
                </a:ext>
              </a:extLst>
            </p:cNvPr>
            <p:cNvSpPr/>
            <p:nvPr/>
          </p:nvSpPr>
          <p:spPr>
            <a:xfrm>
              <a:off x="419100" y="533400"/>
              <a:ext cx="2133600" cy="1333500"/>
            </a:xfrm>
            <a:prstGeom prst="roundRect">
              <a:avLst/>
            </a:prstGeom>
            <a:solidFill>
              <a:srgbClr val="3E2E2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F64A9A-3F58-4EB9-9C5E-1CD3BE8E23A8}"/>
                </a:ext>
              </a:extLst>
            </p:cNvPr>
            <p:cNvSpPr txBox="1"/>
            <p:nvPr/>
          </p:nvSpPr>
          <p:spPr>
            <a:xfrm>
              <a:off x="533400" y="647700"/>
              <a:ext cx="1917700" cy="923330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2E6D6"/>
                  </a:solidFill>
                  <a:latin typeface="Lora" pitchFamily="2" charset="-52"/>
                </a:rPr>
                <a:t>Загружаем данные на </a:t>
              </a:r>
              <a:r>
                <a:rPr lang="en-US" dirty="0">
                  <a:solidFill>
                    <a:srgbClr val="F2E6D6"/>
                  </a:solidFill>
                  <a:latin typeface="Lora" pitchFamily="2" charset="-52"/>
                </a:rPr>
                <a:t>GitHub</a:t>
              </a:r>
              <a:endParaRPr lang="ru-RU" dirty="0">
                <a:solidFill>
                  <a:srgbClr val="F2E6D6"/>
                </a:solidFill>
                <a:latin typeface="Lora" pitchFamily="2" charset="-52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7D5A303-4FAC-4F09-91E6-E9D693BABC6D}"/>
              </a:ext>
            </a:extLst>
          </p:cNvPr>
          <p:cNvGrpSpPr/>
          <p:nvPr/>
        </p:nvGrpSpPr>
        <p:grpSpPr>
          <a:xfrm>
            <a:off x="3371725" y="462919"/>
            <a:ext cx="2133600" cy="1333500"/>
            <a:chOff x="3098800" y="533400"/>
            <a:chExt cx="2133600" cy="133350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203D408D-A1F2-4F9D-8BC8-087CB0BA6A30}"/>
                </a:ext>
              </a:extLst>
            </p:cNvPr>
            <p:cNvSpPr/>
            <p:nvPr/>
          </p:nvSpPr>
          <p:spPr>
            <a:xfrm>
              <a:off x="3098800" y="533400"/>
              <a:ext cx="2133600" cy="1333500"/>
            </a:xfrm>
            <a:prstGeom prst="roundRect">
              <a:avLst/>
            </a:prstGeom>
            <a:solidFill>
              <a:srgbClr val="F2E6D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B2F1F4-5471-4F63-83A1-3E1BD5B34440}"/>
                </a:ext>
              </a:extLst>
            </p:cNvPr>
            <p:cNvSpPr txBox="1"/>
            <p:nvPr/>
          </p:nvSpPr>
          <p:spPr>
            <a:xfrm>
              <a:off x="3238500" y="647700"/>
              <a:ext cx="1930400" cy="923330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3E2E2A"/>
                  </a:solidFill>
                  <a:latin typeface="Lora" pitchFamily="2" charset="-52"/>
                </a:rPr>
                <a:t>Интегрирует </a:t>
              </a:r>
              <a:r>
                <a:rPr lang="en-US" dirty="0">
                  <a:solidFill>
                    <a:srgbClr val="3E2E2A"/>
                  </a:solidFill>
                  <a:latin typeface="Lora" pitchFamily="2" charset="-52"/>
                </a:rPr>
                <a:t>GitHub</a:t>
              </a:r>
              <a:r>
                <a:rPr lang="ru-RU" dirty="0">
                  <a:solidFill>
                    <a:srgbClr val="3E2E2A"/>
                  </a:solidFill>
                  <a:latin typeface="Lora" pitchFamily="2" charset="-52"/>
                </a:rPr>
                <a:t> с </a:t>
              </a:r>
              <a:r>
                <a:rPr lang="en-US" dirty="0">
                  <a:solidFill>
                    <a:srgbClr val="3E2E2A"/>
                  </a:solidFill>
                  <a:latin typeface="Lora" pitchFamily="2" charset="-52"/>
                </a:rPr>
                <a:t>Coder</a:t>
              </a:r>
              <a:r>
                <a:rPr lang="ru-RU" dirty="0">
                  <a:solidFill>
                    <a:srgbClr val="3E2E2A"/>
                  </a:solidFill>
                  <a:latin typeface="Lora" pitchFamily="2" charset="-52"/>
                </a:rPr>
                <a:t> (токен-ключ)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615AA75-B5BF-4465-BACB-A2CBF1E177D8}"/>
              </a:ext>
            </a:extLst>
          </p:cNvPr>
          <p:cNvGrpSpPr/>
          <p:nvPr/>
        </p:nvGrpSpPr>
        <p:grpSpPr>
          <a:xfrm>
            <a:off x="581212" y="2477629"/>
            <a:ext cx="2224916" cy="1477328"/>
            <a:chOff x="5810250" y="531307"/>
            <a:chExt cx="2224916" cy="1477328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93C5E5B-E1AB-465F-B429-382E1A7197E4}"/>
                </a:ext>
              </a:extLst>
            </p:cNvPr>
            <p:cNvSpPr/>
            <p:nvPr/>
          </p:nvSpPr>
          <p:spPr>
            <a:xfrm>
              <a:off x="5810250" y="552707"/>
              <a:ext cx="2133600" cy="1333500"/>
            </a:xfrm>
            <a:prstGeom prst="roundRect">
              <a:avLst/>
            </a:prstGeom>
            <a:solidFill>
              <a:srgbClr val="C87A5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3E2E2A"/>
                </a:solidFill>
                <a:highlight>
                  <a:srgbClr val="C87A5A"/>
                </a:highlight>
                <a:latin typeface="Lora" pitchFamily="2" charset="-5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EFE3FF-5541-4DEA-9506-CCAEF88C7662}"/>
                </a:ext>
              </a:extLst>
            </p:cNvPr>
            <p:cNvSpPr txBox="1"/>
            <p:nvPr/>
          </p:nvSpPr>
          <p:spPr>
            <a:xfrm>
              <a:off x="5901566" y="531307"/>
              <a:ext cx="2133600" cy="1477328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Делаем полный </a:t>
              </a:r>
              <a:r>
                <a:rPr lang="en-US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EDA </a:t>
              </a:r>
              <a:r>
                <a:rPr lang="ru-RU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анализ используя только </a:t>
              </a:r>
              <a:r>
                <a:rPr lang="ru-RU" sz="1800" dirty="0" err="1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промты</a:t>
              </a:r>
              <a:r>
                <a:rPr lang="ru-RU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, без кода</a:t>
              </a:r>
              <a:endParaRPr lang="ru-RU" dirty="0">
                <a:solidFill>
                  <a:srgbClr val="3E2E2A"/>
                </a:solidFill>
                <a:latin typeface="Lora" pitchFamily="2" charset="-52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C8CE947F-1798-43B2-952C-6333FB42E4A3}"/>
              </a:ext>
            </a:extLst>
          </p:cNvPr>
          <p:cNvGrpSpPr/>
          <p:nvPr/>
        </p:nvGrpSpPr>
        <p:grpSpPr>
          <a:xfrm>
            <a:off x="3410371" y="2468257"/>
            <a:ext cx="2133600" cy="1333500"/>
            <a:chOff x="8775700" y="482601"/>
            <a:chExt cx="2133600" cy="133350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BA51EB7B-FC97-4B23-9EB9-3E140097469F}"/>
                </a:ext>
              </a:extLst>
            </p:cNvPr>
            <p:cNvSpPr/>
            <p:nvPr/>
          </p:nvSpPr>
          <p:spPr>
            <a:xfrm>
              <a:off x="8775700" y="482601"/>
              <a:ext cx="2133600" cy="1333500"/>
            </a:xfrm>
            <a:prstGeom prst="roundRect">
              <a:avLst/>
            </a:prstGeom>
            <a:solidFill>
              <a:srgbClr val="F2E6D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9AAC9B-0876-4AD9-87E9-F40A637621B2}"/>
                </a:ext>
              </a:extLst>
            </p:cNvPr>
            <p:cNvSpPr txBox="1"/>
            <p:nvPr/>
          </p:nvSpPr>
          <p:spPr>
            <a:xfrm>
              <a:off x="8877300" y="609601"/>
              <a:ext cx="1930400" cy="1200329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Coder </a:t>
              </a:r>
              <a:r>
                <a:rPr lang="ru-RU" sz="1800" dirty="0">
                  <a:solidFill>
                    <a:srgbClr val="3E2E2A"/>
                  </a:solidFill>
                  <a:effectLst/>
                  <a:latin typeface="Lora" pitchFamily="2" charset="-52"/>
                  <a:ea typeface="Calibri" panose="020F0502020204030204" pitchFamily="34" charset="0"/>
                </a:rPr>
                <a:t>разбирает запрос на компоненты</a:t>
              </a:r>
              <a:endParaRPr lang="ru-RU" dirty="0">
                <a:solidFill>
                  <a:srgbClr val="3E2E2A"/>
                </a:solidFill>
                <a:latin typeface="Lora" pitchFamily="2" charset="-52"/>
              </a:endParaRPr>
            </a:p>
          </p:txBody>
        </p:sp>
      </p:grp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03FA13B-90C7-4437-A269-4875DF109B70}"/>
              </a:ext>
            </a:extLst>
          </p:cNvPr>
          <p:cNvSpPr/>
          <p:nvPr/>
        </p:nvSpPr>
        <p:spPr>
          <a:xfrm>
            <a:off x="6387786" y="2468257"/>
            <a:ext cx="2133600" cy="1333500"/>
          </a:xfrm>
          <a:prstGeom prst="roundRect">
            <a:avLst/>
          </a:prstGeom>
          <a:solidFill>
            <a:srgbClr val="F2E6D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42779-F246-426B-BF1F-BAE90533268A}"/>
              </a:ext>
            </a:extLst>
          </p:cNvPr>
          <p:cNvSpPr txBox="1"/>
          <p:nvPr/>
        </p:nvSpPr>
        <p:spPr>
          <a:xfrm>
            <a:off x="6502086" y="2525405"/>
            <a:ext cx="1917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Записываем в свою директорию </a:t>
            </a:r>
            <a:r>
              <a:rPr lang="ru-RU" sz="1800" spc="-25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/</a:t>
            </a:r>
            <a:r>
              <a:rPr lang="ru-RU" sz="1800" spc="-25" dirty="0" err="1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workspace</a:t>
            </a:r>
            <a:r>
              <a:rPr lang="ru-RU" sz="1800" spc="-25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 </a:t>
            </a:r>
            <a:endParaRPr lang="ru-RU" dirty="0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C9BF643-B3E6-4CE7-8998-38F245505819}"/>
              </a:ext>
            </a:extLst>
          </p:cNvPr>
          <p:cNvSpPr/>
          <p:nvPr/>
        </p:nvSpPr>
        <p:spPr>
          <a:xfrm>
            <a:off x="6162238" y="397084"/>
            <a:ext cx="2584697" cy="1333499"/>
          </a:xfrm>
          <a:prstGeom prst="roundRect">
            <a:avLst/>
          </a:prstGeom>
          <a:solidFill>
            <a:srgbClr val="C87A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3E2E2A"/>
              </a:solidFill>
              <a:latin typeface="Lora" pitchFamily="2" charset="-52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6C713F9-99EE-4286-83F5-1869261C7BB1}"/>
              </a:ext>
            </a:extLst>
          </p:cNvPr>
          <p:cNvGrpSpPr/>
          <p:nvPr/>
        </p:nvGrpSpPr>
        <p:grpSpPr>
          <a:xfrm>
            <a:off x="3538683" y="4567609"/>
            <a:ext cx="2175145" cy="1333500"/>
            <a:chOff x="3406775" y="2499759"/>
            <a:chExt cx="2175145" cy="133350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DCE16F78-F00A-432C-BED1-AD600A99A4ED}"/>
                </a:ext>
              </a:extLst>
            </p:cNvPr>
            <p:cNvSpPr/>
            <p:nvPr/>
          </p:nvSpPr>
          <p:spPr>
            <a:xfrm>
              <a:off x="3406775" y="2499759"/>
              <a:ext cx="2133600" cy="1333500"/>
            </a:xfrm>
            <a:prstGeom prst="roundRect">
              <a:avLst/>
            </a:prstGeom>
            <a:solidFill>
              <a:srgbClr val="3E2E2A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92079C-C3B3-463D-98F6-1B11DB44D617}"/>
                </a:ext>
              </a:extLst>
            </p:cNvPr>
            <p:cNvSpPr txBox="1"/>
            <p:nvPr/>
          </p:nvSpPr>
          <p:spPr>
            <a:xfrm>
              <a:off x="3448320" y="2821850"/>
              <a:ext cx="2133600" cy="646331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2E6D6"/>
                  </a:solidFill>
                  <a:latin typeface="Lora" pitchFamily="2" charset="-52"/>
                </a:rPr>
                <a:t>Синхронизируем с главной веткой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B2C04FA-934A-4789-BC4D-CD4784AE9CF6}"/>
              </a:ext>
            </a:extLst>
          </p:cNvPr>
          <p:cNvSpPr txBox="1"/>
          <p:nvPr/>
        </p:nvSpPr>
        <p:spPr>
          <a:xfrm>
            <a:off x="6310158" y="474283"/>
            <a:ext cx="2529042" cy="12003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Создай отдельную ветку в репозитории и синхронизируй данные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064F2014-6735-4B5C-8640-E0099907DF43}"/>
              </a:ext>
            </a:extLst>
          </p:cNvPr>
          <p:cNvGrpSpPr/>
          <p:nvPr/>
        </p:nvGrpSpPr>
        <p:grpSpPr>
          <a:xfrm>
            <a:off x="9403848" y="407697"/>
            <a:ext cx="2133600" cy="1333500"/>
            <a:chOff x="8534400" y="533400"/>
            <a:chExt cx="2133600" cy="1333500"/>
          </a:xfrm>
          <a:solidFill>
            <a:srgbClr val="C87A5A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40F42269-BAAA-4F8F-A71C-9454F527469D}"/>
                </a:ext>
              </a:extLst>
            </p:cNvPr>
            <p:cNvSpPr/>
            <p:nvPr/>
          </p:nvSpPr>
          <p:spPr>
            <a:xfrm>
              <a:off x="8534400" y="533400"/>
              <a:ext cx="2133600" cy="1333500"/>
            </a:xfrm>
            <a:prstGeom prst="round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E3E10D-D55B-4A5A-80BE-D5EBDA307253}"/>
                </a:ext>
              </a:extLst>
            </p:cNvPr>
            <p:cNvSpPr txBox="1"/>
            <p:nvPr/>
          </p:nvSpPr>
          <p:spPr>
            <a:xfrm>
              <a:off x="8864600" y="808426"/>
              <a:ext cx="1803400" cy="64633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3E2E2A"/>
                  </a:solidFill>
                  <a:latin typeface="Lora" pitchFamily="2" charset="-52"/>
                </a:rPr>
                <a:t>Проверяем и обновляем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D384710-17BD-477B-AE0E-1B4EDA05CFC0}"/>
              </a:ext>
            </a:extLst>
          </p:cNvPr>
          <p:cNvGrpSpPr/>
          <p:nvPr/>
        </p:nvGrpSpPr>
        <p:grpSpPr>
          <a:xfrm>
            <a:off x="600341" y="4567609"/>
            <a:ext cx="2133600" cy="1333500"/>
            <a:chOff x="8534400" y="533400"/>
            <a:chExt cx="2133600" cy="1333500"/>
          </a:xfrm>
          <a:solidFill>
            <a:srgbClr val="C87A5A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A89C7E46-46EA-454E-984C-0006AA4FC386}"/>
                </a:ext>
              </a:extLst>
            </p:cNvPr>
            <p:cNvSpPr/>
            <p:nvPr/>
          </p:nvSpPr>
          <p:spPr>
            <a:xfrm>
              <a:off x="8534400" y="533400"/>
              <a:ext cx="2133600" cy="1333500"/>
            </a:xfrm>
            <a:prstGeom prst="round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3E2E2A"/>
                </a:solidFill>
                <a:latin typeface="Lora" pitchFamily="2" charset="-52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72A780-8CC1-4CEE-BC09-117E84F61462}"/>
                </a:ext>
              </a:extLst>
            </p:cNvPr>
            <p:cNvSpPr txBox="1"/>
            <p:nvPr/>
          </p:nvSpPr>
          <p:spPr>
            <a:xfrm>
              <a:off x="8864600" y="808426"/>
              <a:ext cx="1803400" cy="64633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3E2E2A"/>
                  </a:solidFill>
                  <a:latin typeface="Lora" pitchFamily="2" charset="-52"/>
                </a:rPr>
                <a:t>Проверяем, обновляем</a:t>
              </a: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E0915C3D-72FD-4157-A58E-20734841BF26}"/>
              </a:ext>
            </a:extLst>
          </p:cNvPr>
          <p:cNvGrpSpPr/>
          <p:nvPr/>
        </p:nvGrpSpPr>
        <p:grpSpPr>
          <a:xfrm>
            <a:off x="6421669" y="4575938"/>
            <a:ext cx="2133600" cy="1333500"/>
            <a:chOff x="5691187" y="4049237"/>
            <a:chExt cx="2133600" cy="1333500"/>
          </a:xfrm>
          <a:solidFill>
            <a:srgbClr val="3E2E2A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BB48787B-E2E2-4137-A4B5-0FFEAA4A146F}"/>
                </a:ext>
              </a:extLst>
            </p:cNvPr>
            <p:cNvSpPr/>
            <p:nvPr/>
          </p:nvSpPr>
          <p:spPr>
            <a:xfrm>
              <a:off x="5691187" y="4049237"/>
              <a:ext cx="2133600" cy="1333500"/>
            </a:xfrm>
            <a:prstGeom prst="round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3E2E2A"/>
                </a:solidFill>
                <a:highlight>
                  <a:srgbClr val="3E2E2A"/>
                </a:highlight>
                <a:latin typeface="Lora" pitchFamily="2" charset="-52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BFB99E-609E-49F9-AF26-ED135E6B5B8C}"/>
                </a:ext>
              </a:extLst>
            </p:cNvPr>
            <p:cNvSpPr txBox="1"/>
            <p:nvPr/>
          </p:nvSpPr>
          <p:spPr>
            <a:xfrm>
              <a:off x="5805487" y="4302770"/>
              <a:ext cx="1944687" cy="64633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2E6D6"/>
                  </a:solidFill>
                  <a:latin typeface="Lora" pitchFamily="2" charset="-52"/>
                </a:rPr>
                <a:t>Скачиваем через </a:t>
              </a:r>
              <a:r>
                <a:rPr lang="en-US" dirty="0">
                  <a:solidFill>
                    <a:srgbClr val="F2E6D6"/>
                  </a:solidFill>
                  <a:latin typeface="Lora" pitchFamily="2" charset="-52"/>
                </a:rPr>
                <a:t>Git Bash </a:t>
              </a:r>
              <a:endParaRPr lang="ru-RU" dirty="0">
                <a:solidFill>
                  <a:srgbClr val="F2E6D6"/>
                </a:solidFill>
                <a:latin typeface="Lora" pitchFamily="2" charset="-52"/>
              </a:endParaRPr>
            </a:p>
          </p:txBody>
        </p:sp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64DE69C-3D17-430E-ACD4-E29998851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588" y="907583"/>
            <a:ext cx="789128" cy="787170"/>
          </a:xfrm>
          <a:prstGeom prst="rect">
            <a:avLst/>
          </a:prstGeom>
        </p:spPr>
      </p:pic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64AA4845-F3DD-4D39-8A2B-E117D70A3074}"/>
              </a:ext>
            </a:extLst>
          </p:cNvPr>
          <p:cNvSpPr/>
          <p:nvPr/>
        </p:nvSpPr>
        <p:spPr>
          <a:xfrm>
            <a:off x="8746935" y="-2443994"/>
            <a:ext cx="2870200" cy="1424706"/>
          </a:xfrm>
          <a:prstGeom prst="roundRect">
            <a:avLst/>
          </a:prstGeom>
          <a:solidFill>
            <a:srgbClr val="C87A5A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latin typeface="Lora" pitchFamily="2" charset="-52"/>
              </a:rPr>
              <a:t>Промпт</a:t>
            </a:r>
            <a:endParaRPr lang="ru-RU" dirty="0">
              <a:latin typeface="Lora" pitchFamily="2" charset="-52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F832153C-7EC4-49AE-A2E7-FAB6A434F653}"/>
              </a:ext>
            </a:extLst>
          </p:cNvPr>
          <p:cNvSpPr/>
          <p:nvPr/>
        </p:nvSpPr>
        <p:spPr>
          <a:xfrm>
            <a:off x="7508312" y="7754579"/>
            <a:ext cx="2870200" cy="1424706"/>
          </a:xfrm>
          <a:prstGeom prst="roundRect">
            <a:avLst/>
          </a:prstGeom>
          <a:solidFill>
            <a:srgbClr val="F2E6D6"/>
          </a:solidFill>
          <a:ln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2E2A"/>
                </a:solidFill>
                <a:latin typeface="Lora" pitchFamily="2" charset="-52"/>
              </a:rPr>
              <a:t>Делает ИИ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C200305C-B3D4-4CD7-BD90-06CC34756B2D}"/>
              </a:ext>
            </a:extLst>
          </p:cNvPr>
          <p:cNvSpPr/>
          <p:nvPr/>
        </p:nvSpPr>
        <p:spPr>
          <a:xfrm>
            <a:off x="5197801" y="-2452755"/>
            <a:ext cx="2870200" cy="1424706"/>
          </a:xfrm>
          <a:prstGeom prst="roundRect">
            <a:avLst/>
          </a:prstGeom>
          <a:solidFill>
            <a:srgbClr val="3E2E2A"/>
          </a:solidFill>
          <a:ln>
            <a:solidFill>
              <a:srgbClr val="F2E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2E6D6"/>
                </a:solidFill>
                <a:latin typeface="Lora" pitchFamily="2" charset="-52"/>
              </a:rPr>
              <a:t>Делает человек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82EF7840-1152-429E-8B32-B85CBAB7C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796" y="4381926"/>
            <a:ext cx="2338960" cy="1362140"/>
          </a:xfrm>
          <a:prstGeom prst="rect">
            <a:avLst/>
          </a:prstGeom>
        </p:spPr>
      </p:pic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D87C6FFB-7693-4E26-AD89-5624585C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21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F9C9056-ADD2-495B-80EB-491F50A119D2}"/>
              </a:ext>
            </a:extLst>
          </p:cNvPr>
          <p:cNvSpPr/>
          <p:nvPr/>
        </p:nvSpPr>
        <p:spPr>
          <a:xfrm>
            <a:off x="-876300" y="-167698"/>
            <a:ext cx="13773150" cy="7159048"/>
          </a:xfrm>
          <a:prstGeom prst="round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3E2E2A"/>
              </a:solidFill>
              <a:latin typeface="Lora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2459C-7B73-4371-8097-396D8E5EC1BD}"/>
              </a:ext>
            </a:extLst>
          </p:cNvPr>
          <p:cNvSpPr txBox="1"/>
          <p:nvPr/>
        </p:nvSpPr>
        <p:spPr>
          <a:xfrm>
            <a:off x="1742700" y="873415"/>
            <a:ext cx="8706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Почему используем именно </a:t>
            </a:r>
            <a:r>
              <a:rPr lang="en-US" sz="3200" dirty="0" err="1">
                <a:solidFill>
                  <a:srgbClr val="3E2E2A"/>
                </a:solidFill>
                <a:latin typeface="Lora" pitchFamily="2" charset="-52"/>
                <a:ea typeface="Calibri" panose="020F0502020204030204" pitchFamily="34" charset="0"/>
              </a:rPr>
              <a:t>Qwen</a:t>
            </a:r>
            <a:r>
              <a:rPr lang="ru-RU" sz="3200" dirty="0">
                <a:solidFill>
                  <a:srgbClr val="3E2E2A"/>
                </a:solidFill>
                <a:latin typeface="Lora" pitchFamily="2" charset="-52"/>
                <a:ea typeface="Calibri" panose="020F0502020204030204" pitchFamily="34" charset="0"/>
              </a:rPr>
              <a:t> </a:t>
            </a:r>
            <a:r>
              <a:rPr lang="en-US" sz="32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Coder</a:t>
            </a:r>
            <a:r>
              <a:rPr lang="ru-RU" sz="3200" dirty="0">
                <a:solidFill>
                  <a:srgbClr val="3E2E2A"/>
                </a:solidFill>
                <a:effectLst/>
                <a:latin typeface="Lora" pitchFamily="2" charset="-52"/>
                <a:ea typeface="Calibri" panose="020F0502020204030204" pitchFamily="34" charset="0"/>
              </a:rPr>
              <a:t>?</a:t>
            </a:r>
            <a:endParaRPr lang="ru-RU" sz="3200" dirty="0">
              <a:solidFill>
                <a:srgbClr val="3E2E2A"/>
              </a:solidFill>
              <a:latin typeface="Lora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BA0210-3CC0-429D-B202-42DE9A0B8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32" y="306255"/>
            <a:ext cx="1833633" cy="1833633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7B7DA2D-DE2C-4634-B259-90F373A4DB95}"/>
              </a:ext>
            </a:extLst>
          </p:cNvPr>
          <p:cNvSpPr/>
          <p:nvPr/>
        </p:nvSpPr>
        <p:spPr>
          <a:xfrm>
            <a:off x="1972270" y="1916874"/>
            <a:ext cx="3233057" cy="1371600"/>
          </a:xfrm>
          <a:prstGeom prst="roundRect">
            <a:avLst/>
          </a:prstGeom>
          <a:solidFill>
            <a:srgbClr val="3E2E2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2E6D6"/>
                </a:solidFill>
                <a:effectLst/>
                <a:latin typeface="Lora" pitchFamily="2" charset="-52"/>
              </a:rPr>
              <a:t>Генерация кода</a:t>
            </a:r>
            <a:endParaRPr lang="ru-RU" dirty="0">
              <a:solidFill>
                <a:srgbClr val="F2E6D6"/>
              </a:solidFill>
              <a:latin typeface="Lora" pitchFamily="2" charset="-52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D5B80BF-7A02-4E05-9B01-9F77A308C2F3}"/>
              </a:ext>
            </a:extLst>
          </p:cNvPr>
          <p:cNvSpPr/>
          <p:nvPr/>
        </p:nvSpPr>
        <p:spPr>
          <a:xfrm>
            <a:off x="7082135" y="4290948"/>
            <a:ext cx="3233057" cy="1371600"/>
          </a:xfrm>
          <a:prstGeom prst="roundRect">
            <a:avLst/>
          </a:prstGeom>
          <a:solidFill>
            <a:srgbClr val="3E2E2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2E6D6"/>
                </a:solidFill>
                <a:effectLst/>
                <a:latin typeface="Lora" pitchFamily="2" charset="-52"/>
              </a:rPr>
              <a:t>Агентские возможности</a:t>
            </a:r>
            <a:endParaRPr lang="ru-RU" dirty="0">
              <a:solidFill>
                <a:srgbClr val="F2E6D6"/>
              </a:solidFill>
              <a:latin typeface="Lora" pitchFamily="2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99A083C-3353-4B4B-950A-35AD54B508E9}"/>
              </a:ext>
            </a:extLst>
          </p:cNvPr>
          <p:cNvSpPr/>
          <p:nvPr/>
        </p:nvSpPr>
        <p:spPr>
          <a:xfrm>
            <a:off x="1972270" y="4387437"/>
            <a:ext cx="3233057" cy="1371600"/>
          </a:xfrm>
          <a:prstGeom prst="roundRect">
            <a:avLst/>
          </a:prstGeom>
          <a:solidFill>
            <a:srgbClr val="3E2E2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2E6D6"/>
                </a:solidFill>
                <a:effectLst/>
                <a:latin typeface="Lora" pitchFamily="2" charset="-52"/>
              </a:rPr>
              <a:t>Работа с длинным контекстом</a:t>
            </a:r>
            <a:endParaRPr lang="ru-RU" dirty="0">
              <a:solidFill>
                <a:srgbClr val="F2E6D6"/>
              </a:solidFill>
              <a:latin typeface="Lora" pitchFamily="2" charset="-52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CA3DCD4-492B-40AF-BB84-24998384DDA4}"/>
              </a:ext>
            </a:extLst>
          </p:cNvPr>
          <p:cNvSpPr/>
          <p:nvPr/>
        </p:nvSpPr>
        <p:spPr>
          <a:xfrm>
            <a:off x="7082135" y="1916874"/>
            <a:ext cx="3233057" cy="1371600"/>
          </a:xfrm>
          <a:prstGeom prst="roundRect">
            <a:avLst/>
          </a:prstGeom>
          <a:solidFill>
            <a:srgbClr val="3E2E2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2E6D6"/>
                </a:solidFill>
                <a:effectLst/>
                <a:latin typeface="Lora" pitchFamily="2" charset="-52"/>
              </a:rPr>
              <a:t>Понимание и анализ</a:t>
            </a:r>
            <a:endParaRPr lang="ru-RU" dirty="0">
              <a:solidFill>
                <a:srgbClr val="F2E6D6"/>
              </a:solidFill>
              <a:latin typeface="Lora" pitchFamily="2" charset="-52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7F625B8-41D2-4EDA-B17F-4EB36843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60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19C621-9971-4BA5-B817-414A1FED35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BD6DA5-F700-4A24-9FC7-54C3673BB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955" y="317500"/>
            <a:ext cx="2743201" cy="2743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6C8428-8582-4FD4-B5F9-1452E3FF08C3}"/>
              </a:ext>
            </a:extLst>
          </p:cNvPr>
          <p:cNvSpPr txBox="1"/>
          <p:nvPr/>
        </p:nvSpPr>
        <p:spPr>
          <a:xfrm>
            <a:off x="284843" y="152399"/>
            <a:ext cx="7228115" cy="679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Основные ограничения </a:t>
            </a:r>
            <a:r>
              <a:rPr lang="en-US" sz="1800" dirty="0" err="1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Qwen</a:t>
            </a:r>
            <a:r>
              <a:rPr lang="en-US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chat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Текстовая модель. (нет возможности создавать бинарные </a:t>
            </a:r>
            <a:r>
              <a:rPr lang="ru-RU" sz="1800" dirty="0" err="1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данны</a:t>
            </a: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  .</a:t>
            </a:r>
            <a:r>
              <a:rPr lang="ru-RU" sz="1800" dirty="0" err="1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xlsx</a:t>
            </a: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— это бинарный формат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Канал связи — текстовый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Всё, что "отправляет", передаётся как текстовая строка.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3. Нет файловой системы.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-Нет доступа к диску для создания файлов.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-Не может "сохранить" файл и отправить ссылку.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-Не выполняет код — только генерирую текст.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4. Нет бинарного кодирования и интерпретатора </a:t>
            </a:r>
            <a:r>
              <a:rPr lang="en-US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Может описать это текстом, но не создать реальные байты. Это не баг, а фундаментальное ограничение </a:t>
            </a:r>
            <a:r>
              <a:rPr lang="en-US" sz="1800" dirty="0" err="1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Qwen</a:t>
            </a:r>
            <a:r>
              <a:rPr lang="en-US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1D1D1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— текстовый ассистент, а не файловый генератор.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6EEFB2-E36A-43EF-B964-8FD42878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452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4FB13BE7-9697-4312-92BF-F3E68B754A58}"/>
              </a:ext>
            </a:extLst>
          </p:cNvPr>
          <p:cNvGrpSpPr/>
          <p:nvPr/>
        </p:nvGrpSpPr>
        <p:grpSpPr>
          <a:xfrm>
            <a:off x="3095721" y="4378862"/>
            <a:ext cx="6327158" cy="1765904"/>
            <a:chOff x="6652589" y="4803586"/>
            <a:chExt cx="6327158" cy="1765904"/>
          </a:xfrm>
        </p:grpSpPr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84D3BAE0-6B03-4356-81A3-632B05A589AE}"/>
                </a:ext>
              </a:extLst>
            </p:cNvPr>
            <p:cNvSpPr/>
            <p:nvPr/>
          </p:nvSpPr>
          <p:spPr>
            <a:xfrm>
              <a:off x="6652589" y="4803586"/>
              <a:ext cx="6321287" cy="1765904"/>
            </a:xfrm>
            <a:prstGeom prst="roundRect">
              <a:avLst/>
            </a:prstGeom>
            <a:solidFill>
              <a:srgbClr val="3E2E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71CFDB-DA21-4BF2-ABAB-4F28340F8EE7}"/>
                </a:ext>
              </a:extLst>
            </p:cNvPr>
            <p:cNvSpPr txBox="1"/>
            <p:nvPr/>
          </p:nvSpPr>
          <p:spPr>
            <a:xfrm>
              <a:off x="6966573" y="5061808"/>
              <a:ext cx="601317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0" i="0" dirty="0">
                  <a:solidFill>
                    <a:srgbClr val="F2E6D6"/>
                  </a:solidFill>
                  <a:effectLst/>
                  <a:latin typeface="Lora" pitchFamily="2" charset="-52"/>
                </a:rPr>
                <a:t>Разведочный анализ данных (EDA) — критический этап предварительного исследования, направленный на понимание структуры </a:t>
              </a:r>
              <a:r>
                <a:rPr lang="ru-RU" b="0" i="0" dirty="0" err="1">
                  <a:solidFill>
                    <a:srgbClr val="F2E6D6"/>
                  </a:solidFill>
                  <a:effectLst/>
                  <a:latin typeface="Lora" pitchFamily="2" charset="-52"/>
                </a:rPr>
                <a:t>датасета</a:t>
              </a:r>
              <a:r>
                <a:rPr lang="ru-RU" b="0" i="0" dirty="0">
                  <a:effectLst/>
                  <a:latin typeface="Lora" pitchFamily="2" charset="-52"/>
                </a:rPr>
                <a:t>.</a:t>
              </a:r>
              <a:endParaRPr lang="ru-RU" dirty="0">
                <a:latin typeface="Lora" pitchFamily="2" charset="-52"/>
              </a:endParaRPr>
            </a:p>
            <a:p>
              <a:endParaRPr lang="ru-RU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0DFC53F4-4769-48EB-A9AA-F401986E2891}"/>
              </a:ext>
            </a:extLst>
          </p:cNvPr>
          <p:cNvGrpSpPr/>
          <p:nvPr/>
        </p:nvGrpSpPr>
        <p:grpSpPr>
          <a:xfrm>
            <a:off x="3095721" y="537060"/>
            <a:ext cx="6321287" cy="1765904"/>
            <a:chOff x="-225287" y="1931384"/>
            <a:chExt cx="6321287" cy="1765904"/>
          </a:xfrm>
        </p:grpSpPr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C489D985-2885-4FE6-B530-3F060CC1A73A}"/>
                </a:ext>
              </a:extLst>
            </p:cNvPr>
            <p:cNvSpPr/>
            <p:nvPr/>
          </p:nvSpPr>
          <p:spPr>
            <a:xfrm>
              <a:off x="-225287" y="1931384"/>
              <a:ext cx="6321287" cy="1765904"/>
            </a:xfrm>
            <a:prstGeom prst="roundRect">
              <a:avLst/>
            </a:prstGeom>
            <a:solidFill>
              <a:srgbClr val="3E2E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CEFE3A0-D1AE-4959-A030-25B99B01CADA}"/>
                </a:ext>
              </a:extLst>
            </p:cNvPr>
            <p:cNvSpPr txBox="1"/>
            <p:nvPr/>
          </p:nvSpPr>
          <p:spPr>
            <a:xfrm>
              <a:off x="186750" y="2164897"/>
              <a:ext cx="5334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0" i="0" dirty="0">
                  <a:solidFill>
                    <a:srgbClr val="F2E6D6"/>
                  </a:solidFill>
                  <a:effectLst/>
                  <a:latin typeface="Lora" pitchFamily="2" charset="-52"/>
                </a:rPr>
                <a:t>EDA: фундамент построения надежных аналитических моделей</a:t>
              </a:r>
              <a:endParaRPr lang="ru-RU" sz="2400" dirty="0">
                <a:solidFill>
                  <a:srgbClr val="F2E6D6"/>
                </a:solidFill>
                <a:latin typeface="Lora" pitchFamily="2" charset="-52"/>
              </a:endParaRPr>
            </a:p>
          </p:txBody>
        </p:sp>
      </p:grp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3802D87-53F9-4334-829A-DBFF4BCFD2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6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C2D140CD-0B77-49EA-BEF7-9ADC9A0A7A02}"/>
              </a:ext>
            </a:extLst>
          </p:cNvPr>
          <p:cNvSpPr/>
          <p:nvPr/>
        </p:nvSpPr>
        <p:spPr>
          <a:xfrm rot="5400000">
            <a:off x="2916974" y="249816"/>
            <a:ext cx="2955433" cy="3081881"/>
          </a:xfrm>
          <a:custGeom>
            <a:avLst/>
            <a:gdLst>
              <a:gd name="connsiteX0" fmla="*/ 0 w 2595396"/>
              <a:gd name="connsiteY0" fmla="*/ 0 h 2709115"/>
              <a:gd name="connsiteX1" fmla="*/ 1371336 w 2595396"/>
              <a:gd name="connsiteY1" fmla="*/ 0 h 2709115"/>
              <a:gd name="connsiteX2" fmla="*/ 1371847 w 2595396"/>
              <a:gd name="connsiteY2" fmla="*/ 10955 h 2709115"/>
              <a:gd name="connsiteX3" fmla="*/ 2459941 w 2595396"/>
              <a:gd name="connsiteY3" fmla="*/ 1314742 h 2709115"/>
              <a:gd name="connsiteX4" fmla="*/ 2595396 w 2595396"/>
              <a:gd name="connsiteY4" fmla="*/ 1337137 h 2709115"/>
              <a:gd name="connsiteX5" fmla="*/ 2595396 w 2595396"/>
              <a:gd name="connsiteY5" fmla="*/ 2709115 h 2709115"/>
              <a:gd name="connsiteX6" fmla="*/ 2455890 w 2595396"/>
              <a:gd name="connsiteY6" fmla="*/ 2701777 h 2709115"/>
              <a:gd name="connsiteX7" fmla="*/ 7329 w 2595396"/>
              <a:gd name="connsiteY7" fmla="*/ 151193 h 2709115"/>
              <a:gd name="connsiteX8" fmla="*/ 0 w 2595396"/>
              <a:gd name="connsiteY8" fmla="*/ 0 h 270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96" h="2709115">
                <a:moveTo>
                  <a:pt x="0" y="0"/>
                </a:moveTo>
                <a:lnTo>
                  <a:pt x="1371336" y="0"/>
                </a:lnTo>
                <a:lnTo>
                  <a:pt x="1371847" y="10955"/>
                </a:lnTo>
                <a:cubicBezTo>
                  <a:pt x="1432722" y="660326"/>
                  <a:pt x="1879569" y="1186084"/>
                  <a:pt x="2459941" y="1314742"/>
                </a:cubicBezTo>
                <a:lnTo>
                  <a:pt x="2595396" y="1337137"/>
                </a:lnTo>
                <a:lnTo>
                  <a:pt x="2595396" y="2709115"/>
                </a:lnTo>
                <a:lnTo>
                  <a:pt x="2455890" y="2701777"/>
                </a:lnTo>
                <a:cubicBezTo>
                  <a:pt x="1164832" y="2565200"/>
                  <a:pt x="138443" y="1496044"/>
                  <a:pt x="7329" y="151193"/>
                </a:cubicBezTo>
                <a:lnTo>
                  <a:pt x="0" y="0"/>
                </a:lnTo>
                <a:close/>
              </a:path>
            </a:pathLst>
          </a:custGeom>
          <a:solidFill>
            <a:srgbClr val="3E2E2A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9B734F21-2C70-48BB-AC49-77DEB70212B4}"/>
              </a:ext>
            </a:extLst>
          </p:cNvPr>
          <p:cNvSpPr/>
          <p:nvPr/>
        </p:nvSpPr>
        <p:spPr>
          <a:xfrm rot="5400000">
            <a:off x="2916978" y="3526299"/>
            <a:ext cx="2955433" cy="3081881"/>
          </a:xfrm>
          <a:custGeom>
            <a:avLst/>
            <a:gdLst>
              <a:gd name="connsiteX0" fmla="*/ 0 w 2595396"/>
              <a:gd name="connsiteY0" fmla="*/ 2709115 h 2709115"/>
              <a:gd name="connsiteX1" fmla="*/ 0 w 2595396"/>
              <a:gd name="connsiteY1" fmla="*/ 1337137 h 2709115"/>
              <a:gd name="connsiteX2" fmla="*/ 135455 w 2595396"/>
              <a:gd name="connsiteY2" fmla="*/ 1314742 h 2709115"/>
              <a:gd name="connsiteX3" fmla="*/ 1223549 w 2595396"/>
              <a:gd name="connsiteY3" fmla="*/ 10955 h 2709115"/>
              <a:gd name="connsiteX4" fmla="*/ 1224059 w 2595396"/>
              <a:gd name="connsiteY4" fmla="*/ 0 h 2709115"/>
              <a:gd name="connsiteX5" fmla="*/ 2595396 w 2595396"/>
              <a:gd name="connsiteY5" fmla="*/ 0 h 2709115"/>
              <a:gd name="connsiteX6" fmla="*/ 2588067 w 2595396"/>
              <a:gd name="connsiteY6" fmla="*/ 151193 h 2709115"/>
              <a:gd name="connsiteX7" fmla="*/ 139506 w 2595396"/>
              <a:gd name="connsiteY7" fmla="*/ 2701777 h 2709115"/>
              <a:gd name="connsiteX8" fmla="*/ 0 w 2595396"/>
              <a:gd name="connsiteY8" fmla="*/ 2709115 h 270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96" h="2709115">
                <a:moveTo>
                  <a:pt x="0" y="2709115"/>
                </a:moveTo>
                <a:lnTo>
                  <a:pt x="0" y="1337137"/>
                </a:lnTo>
                <a:lnTo>
                  <a:pt x="135455" y="1314742"/>
                </a:lnTo>
                <a:cubicBezTo>
                  <a:pt x="715827" y="1186084"/>
                  <a:pt x="1162674" y="660326"/>
                  <a:pt x="1223549" y="10955"/>
                </a:cubicBezTo>
                <a:lnTo>
                  <a:pt x="1224059" y="0"/>
                </a:lnTo>
                <a:lnTo>
                  <a:pt x="2595396" y="0"/>
                </a:lnTo>
                <a:lnTo>
                  <a:pt x="2588067" y="151193"/>
                </a:lnTo>
                <a:cubicBezTo>
                  <a:pt x="2456953" y="1496044"/>
                  <a:pt x="1430563" y="2565200"/>
                  <a:pt x="139506" y="2701777"/>
                </a:cubicBezTo>
                <a:lnTo>
                  <a:pt x="0" y="2709115"/>
                </a:lnTo>
                <a:close/>
              </a:path>
            </a:pathLst>
          </a:custGeom>
          <a:solidFill>
            <a:srgbClr val="3E2E2A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80BB2DA3-7808-4D20-A43B-18110E853E45}"/>
              </a:ext>
            </a:extLst>
          </p:cNvPr>
          <p:cNvSpPr/>
          <p:nvPr/>
        </p:nvSpPr>
        <p:spPr>
          <a:xfrm rot="5400000">
            <a:off x="6319589" y="249816"/>
            <a:ext cx="2955433" cy="3081881"/>
          </a:xfrm>
          <a:custGeom>
            <a:avLst/>
            <a:gdLst>
              <a:gd name="connsiteX0" fmla="*/ 0 w 2595396"/>
              <a:gd name="connsiteY0" fmla="*/ 2709115 h 2709115"/>
              <a:gd name="connsiteX1" fmla="*/ 7329 w 2595396"/>
              <a:gd name="connsiteY1" fmla="*/ 2557922 h 2709115"/>
              <a:gd name="connsiteX2" fmla="*/ 2455890 w 2595396"/>
              <a:gd name="connsiteY2" fmla="*/ 7338 h 2709115"/>
              <a:gd name="connsiteX3" fmla="*/ 2595396 w 2595396"/>
              <a:gd name="connsiteY3" fmla="*/ 0 h 2709115"/>
              <a:gd name="connsiteX4" fmla="*/ 2595396 w 2595396"/>
              <a:gd name="connsiteY4" fmla="*/ 1371978 h 2709115"/>
              <a:gd name="connsiteX5" fmla="*/ 2459941 w 2595396"/>
              <a:gd name="connsiteY5" fmla="*/ 1394373 h 2709115"/>
              <a:gd name="connsiteX6" fmla="*/ 1371847 w 2595396"/>
              <a:gd name="connsiteY6" fmla="*/ 2698160 h 2709115"/>
              <a:gd name="connsiteX7" fmla="*/ 1371336 w 2595396"/>
              <a:gd name="connsiteY7" fmla="*/ 2709115 h 2709115"/>
              <a:gd name="connsiteX8" fmla="*/ 0 w 2595396"/>
              <a:gd name="connsiteY8" fmla="*/ 2709115 h 270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96" h="2709115">
                <a:moveTo>
                  <a:pt x="0" y="2709115"/>
                </a:moveTo>
                <a:lnTo>
                  <a:pt x="7329" y="2557922"/>
                </a:lnTo>
                <a:cubicBezTo>
                  <a:pt x="138443" y="1213071"/>
                  <a:pt x="1164832" y="143915"/>
                  <a:pt x="2455890" y="7338"/>
                </a:cubicBezTo>
                <a:lnTo>
                  <a:pt x="2595396" y="0"/>
                </a:lnTo>
                <a:lnTo>
                  <a:pt x="2595396" y="1371978"/>
                </a:lnTo>
                <a:lnTo>
                  <a:pt x="2459941" y="1394373"/>
                </a:lnTo>
                <a:cubicBezTo>
                  <a:pt x="1879569" y="1523031"/>
                  <a:pt x="1432722" y="2048790"/>
                  <a:pt x="1371847" y="2698160"/>
                </a:cubicBezTo>
                <a:lnTo>
                  <a:pt x="1371336" y="2709115"/>
                </a:lnTo>
                <a:lnTo>
                  <a:pt x="0" y="2709115"/>
                </a:lnTo>
                <a:close/>
              </a:path>
            </a:pathLst>
          </a:custGeom>
          <a:solidFill>
            <a:srgbClr val="3E2E2A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61B9C742-EF3B-4C92-8959-CE3CA8F60F63}"/>
              </a:ext>
            </a:extLst>
          </p:cNvPr>
          <p:cNvSpPr/>
          <p:nvPr/>
        </p:nvSpPr>
        <p:spPr>
          <a:xfrm rot="5400000">
            <a:off x="6319589" y="3526300"/>
            <a:ext cx="2955433" cy="3081881"/>
          </a:xfrm>
          <a:custGeom>
            <a:avLst/>
            <a:gdLst>
              <a:gd name="connsiteX0" fmla="*/ 0 w 2595396"/>
              <a:gd name="connsiteY0" fmla="*/ 1371978 h 2709115"/>
              <a:gd name="connsiteX1" fmla="*/ 0 w 2595396"/>
              <a:gd name="connsiteY1" fmla="*/ 0 h 2709115"/>
              <a:gd name="connsiteX2" fmla="*/ 139506 w 2595396"/>
              <a:gd name="connsiteY2" fmla="*/ 7338 h 2709115"/>
              <a:gd name="connsiteX3" fmla="*/ 2588067 w 2595396"/>
              <a:gd name="connsiteY3" fmla="*/ 2557922 h 2709115"/>
              <a:gd name="connsiteX4" fmla="*/ 2595396 w 2595396"/>
              <a:gd name="connsiteY4" fmla="*/ 2709115 h 2709115"/>
              <a:gd name="connsiteX5" fmla="*/ 1224059 w 2595396"/>
              <a:gd name="connsiteY5" fmla="*/ 2709115 h 2709115"/>
              <a:gd name="connsiteX6" fmla="*/ 1223549 w 2595396"/>
              <a:gd name="connsiteY6" fmla="*/ 2698160 h 2709115"/>
              <a:gd name="connsiteX7" fmla="*/ 135455 w 2595396"/>
              <a:gd name="connsiteY7" fmla="*/ 1394373 h 2709115"/>
              <a:gd name="connsiteX8" fmla="*/ 0 w 2595396"/>
              <a:gd name="connsiteY8" fmla="*/ 1371978 h 2709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96" h="2709115">
                <a:moveTo>
                  <a:pt x="0" y="1371978"/>
                </a:moveTo>
                <a:lnTo>
                  <a:pt x="0" y="0"/>
                </a:lnTo>
                <a:lnTo>
                  <a:pt x="139506" y="7338"/>
                </a:lnTo>
                <a:cubicBezTo>
                  <a:pt x="1430564" y="143915"/>
                  <a:pt x="2456953" y="1213071"/>
                  <a:pt x="2588067" y="2557922"/>
                </a:cubicBezTo>
                <a:lnTo>
                  <a:pt x="2595396" y="2709115"/>
                </a:lnTo>
                <a:lnTo>
                  <a:pt x="1224059" y="2709115"/>
                </a:lnTo>
                <a:lnTo>
                  <a:pt x="1223549" y="2698160"/>
                </a:lnTo>
                <a:cubicBezTo>
                  <a:pt x="1162674" y="2048790"/>
                  <a:pt x="715827" y="1523031"/>
                  <a:pt x="135455" y="1394373"/>
                </a:cubicBezTo>
                <a:lnTo>
                  <a:pt x="0" y="1371978"/>
                </a:lnTo>
                <a:close/>
              </a:path>
            </a:pathLst>
          </a:custGeom>
          <a:solidFill>
            <a:srgbClr val="3E2E2A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63B64-3EA6-43DA-ADDF-94F590130A61}"/>
              </a:ext>
            </a:extLst>
          </p:cNvPr>
          <p:cNvSpPr txBox="1"/>
          <p:nvPr/>
        </p:nvSpPr>
        <p:spPr>
          <a:xfrm>
            <a:off x="5141842" y="2778343"/>
            <a:ext cx="3021495" cy="120032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Lora" pitchFamily="2" charset="-52"/>
              </a:rPr>
              <a:t>EDA</a:t>
            </a:r>
            <a:endParaRPr lang="ru-RU" sz="7200" b="1" dirty="0">
              <a:latin typeface="Lora" pitchFamily="2" charset="-52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FF5EB22-84EA-4180-A146-3907925D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8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2" grpId="0" animBg="1"/>
      <p:bldP spid="15" grpId="0" animBg="1"/>
      <p:bldP spid="21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BBE5EB3A-C4D4-4B70-BFD7-9FD839CCE2BA}"/>
              </a:ext>
            </a:extLst>
          </p:cNvPr>
          <p:cNvGrpSpPr/>
          <p:nvPr/>
        </p:nvGrpSpPr>
        <p:grpSpPr>
          <a:xfrm>
            <a:off x="1845738" y="1647322"/>
            <a:ext cx="3248025" cy="1200329"/>
            <a:chOff x="1066800" y="1762124"/>
            <a:chExt cx="3248025" cy="120032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9BE5B6C-EACB-4114-B2EB-04B61DA8BF56}"/>
                </a:ext>
              </a:extLst>
            </p:cNvPr>
            <p:cNvSpPr/>
            <p:nvPr/>
          </p:nvSpPr>
          <p:spPr>
            <a:xfrm>
              <a:off x="1066800" y="1809929"/>
              <a:ext cx="3248025" cy="110472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FF6B65-2917-4624-98C5-D2564B0C3EC7}"/>
                </a:ext>
              </a:extLst>
            </p:cNvPr>
            <p:cNvSpPr txBox="1"/>
            <p:nvPr/>
          </p:nvSpPr>
          <p:spPr>
            <a:xfrm>
              <a:off x="1066800" y="1762124"/>
              <a:ext cx="32385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0" i="0" dirty="0">
                  <a:solidFill>
                    <a:srgbClr val="3E2E2A"/>
                  </a:solidFill>
                  <a:effectLst/>
                  <a:latin typeface="Lora" pitchFamily="2" charset="-52"/>
                </a:rPr>
                <a:t>Понимание характеристик </a:t>
              </a:r>
              <a:r>
                <a:rPr lang="ru-RU" b="0" i="0" dirty="0">
                  <a:solidFill>
                    <a:srgbClr val="C87A5A"/>
                  </a:solidFill>
                  <a:effectLst/>
                  <a:latin typeface="Lora" pitchFamily="2" charset="-52"/>
                </a:rPr>
                <a:t>Обзор типов переменных и пропущенных значений.</a:t>
              </a:r>
              <a:endParaRPr lang="ru-RU" dirty="0">
                <a:solidFill>
                  <a:srgbClr val="C87A5A"/>
                </a:solidFill>
                <a:latin typeface="Lora" pitchFamily="2" charset="-52"/>
              </a:endParaRPr>
            </a:p>
            <a:p>
              <a:endParaRPr lang="ru-RU" dirty="0"/>
            </a:p>
          </p:txBody>
        </p:sp>
      </p:grp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CB6E7A4-83CD-4EDE-B28A-52D8D3B89171}"/>
              </a:ext>
            </a:extLst>
          </p:cNvPr>
          <p:cNvSpPr/>
          <p:nvPr/>
        </p:nvSpPr>
        <p:spPr>
          <a:xfrm>
            <a:off x="8696761" y="3970808"/>
            <a:ext cx="3248025" cy="110472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b="0" i="0" dirty="0">
                <a:solidFill>
                  <a:srgbClr val="3E2E2A"/>
                </a:solidFill>
                <a:effectLst/>
                <a:latin typeface="Lora" pitchFamily="2" charset="-52"/>
              </a:rPr>
              <a:t>Подготовка данных     </a:t>
            </a:r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Очистка "шума" и масштабирование для моделирования.</a:t>
            </a:r>
            <a:endParaRPr lang="ru-RU" dirty="0">
              <a:solidFill>
                <a:srgbClr val="C87A5A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A91E8A29-DE81-40A2-B31E-57D7D6435EA8}"/>
              </a:ext>
            </a:extLst>
          </p:cNvPr>
          <p:cNvSpPr/>
          <p:nvPr/>
        </p:nvSpPr>
        <p:spPr>
          <a:xfrm>
            <a:off x="3843130" y="5371360"/>
            <a:ext cx="3248025" cy="110472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b="0" i="0" dirty="0">
                <a:solidFill>
                  <a:srgbClr val="3E2E2A"/>
                </a:solidFill>
                <a:effectLst/>
                <a:latin typeface="Lora" pitchFamily="2" charset="-52"/>
              </a:rPr>
              <a:t>Идентификация связей</a:t>
            </a:r>
          </a:p>
          <a:p>
            <a:pPr lvl="0"/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Расчет статистических корреляций между факторами.</a:t>
            </a:r>
            <a:endParaRPr lang="ru-RU" dirty="0">
              <a:solidFill>
                <a:srgbClr val="C87A5A"/>
              </a:solidFill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3576ADA-C28C-4595-B4EA-BAC7C0278832}"/>
              </a:ext>
            </a:extLst>
          </p:cNvPr>
          <p:cNvSpPr/>
          <p:nvPr/>
        </p:nvSpPr>
        <p:spPr>
          <a:xfrm>
            <a:off x="6257508" y="393848"/>
            <a:ext cx="3248025" cy="110472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E2E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b="0" i="0" dirty="0">
                <a:solidFill>
                  <a:srgbClr val="3E2E2A"/>
                </a:solidFill>
                <a:effectLst/>
                <a:latin typeface="Lora" pitchFamily="2" charset="-52"/>
              </a:rPr>
              <a:t>Выявление аномалий</a:t>
            </a:r>
          </a:p>
          <a:p>
            <a:pPr lvl="0"/>
            <a:r>
              <a:rPr lang="ru-RU" b="0" i="0" dirty="0">
                <a:solidFill>
                  <a:srgbClr val="C87A5A"/>
                </a:solidFill>
                <a:effectLst/>
                <a:latin typeface="Lora" pitchFamily="2" charset="-52"/>
              </a:rPr>
              <a:t>Поиск выбросов, которые могут исказить бизнес-выводы.</a:t>
            </a:r>
            <a:endParaRPr lang="ru-RU" dirty="0">
              <a:solidFill>
                <a:srgbClr val="C87A5A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7DBBB08-67B0-479C-9E07-DF0EDD0D2EAF}"/>
              </a:ext>
            </a:extLst>
          </p:cNvPr>
          <p:cNvGrpSpPr/>
          <p:nvPr/>
        </p:nvGrpSpPr>
        <p:grpSpPr>
          <a:xfrm rot="4568154">
            <a:off x="4444018" y="3105376"/>
            <a:ext cx="1476375" cy="1752600"/>
            <a:chOff x="10482262" y="3105329"/>
            <a:chExt cx="1476375" cy="1752600"/>
          </a:xfrm>
          <a:effectLst>
            <a:outerShdw blurRad="381000" dist="508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C634AFED-12FF-4D2B-9E8E-B3DC937A20CF}"/>
                </a:ext>
              </a:extLst>
            </p:cNvPr>
            <p:cNvSpPr/>
            <p:nvPr/>
          </p:nvSpPr>
          <p:spPr>
            <a:xfrm>
              <a:off x="10482262" y="3105329"/>
              <a:ext cx="738188" cy="1752600"/>
            </a:xfrm>
            <a:custGeom>
              <a:avLst/>
              <a:gdLst>
                <a:gd name="connsiteX0" fmla="*/ 738188 w 738188"/>
                <a:gd name="connsiteY0" fmla="*/ 0 h 1752600"/>
                <a:gd name="connsiteX1" fmla="*/ 738188 w 738188"/>
                <a:gd name="connsiteY1" fmla="*/ 1133059 h 1752600"/>
                <a:gd name="connsiteX2" fmla="*/ 0 w 738188"/>
                <a:gd name="connsiteY2" fmla="*/ 1752600 h 1752600"/>
                <a:gd name="connsiteX3" fmla="*/ 738188 w 73818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8" h="1752600">
                  <a:moveTo>
                    <a:pt x="738188" y="0"/>
                  </a:moveTo>
                  <a:lnTo>
                    <a:pt x="738188" y="1133059"/>
                  </a:lnTo>
                  <a:lnTo>
                    <a:pt x="0" y="1752600"/>
                  </a:lnTo>
                  <a:lnTo>
                    <a:pt x="738188" y="0"/>
                  </a:lnTo>
                  <a:close/>
                </a:path>
              </a:pathLst>
            </a:custGeom>
            <a:solidFill>
              <a:srgbClr val="D69B84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C157B611-9CF8-48DB-BE72-AEAD1FB3A452}"/>
                </a:ext>
              </a:extLst>
            </p:cNvPr>
            <p:cNvSpPr/>
            <p:nvPr/>
          </p:nvSpPr>
          <p:spPr>
            <a:xfrm>
              <a:off x="11220450" y="3105329"/>
              <a:ext cx="738187" cy="1752600"/>
            </a:xfrm>
            <a:custGeom>
              <a:avLst/>
              <a:gdLst>
                <a:gd name="connsiteX0" fmla="*/ 0 w 738187"/>
                <a:gd name="connsiteY0" fmla="*/ 0 h 1752600"/>
                <a:gd name="connsiteX1" fmla="*/ 738187 w 738187"/>
                <a:gd name="connsiteY1" fmla="*/ 1752600 h 1752600"/>
                <a:gd name="connsiteX2" fmla="*/ 0 w 738187"/>
                <a:gd name="connsiteY2" fmla="*/ 1133059 h 1752600"/>
                <a:gd name="connsiteX3" fmla="*/ 0 w 738187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7" h="1752600">
                  <a:moveTo>
                    <a:pt x="0" y="0"/>
                  </a:moveTo>
                  <a:lnTo>
                    <a:pt x="738187" y="1752600"/>
                  </a:lnTo>
                  <a:lnTo>
                    <a:pt x="0" y="1133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7A5A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070AB49D-BD1D-47DE-8ECD-F7A581E31E65}"/>
              </a:ext>
            </a:extLst>
          </p:cNvPr>
          <p:cNvGrpSpPr/>
          <p:nvPr/>
        </p:nvGrpSpPr>
        <p:grpSpPr>
          <a:xfrm rot="3935788">
            <a:off x="6855573" y="2349180"/>
            <a:ext cx="1476375" cy="1752600"/>
            <a:chOff x="10482262" y="3105329"/>
            <a:chExt cx="1476375" cy="1752600"/>
          </a:xfrm>
          <a:effectLst>
            <a:outerShdw blurRad="381000" dist="508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5AA1F52C-052D-4B03-BCC4-4E72D54A3359}"/>
                </a:ext>
              </a:extLst>
            </p:cNvPr>
            <p:cNvSpPr/>
            <p:nvPr/>
          </p:nvSpPr>
          <p:spPr>
            <a:xfrm>
              <a:off x="10482262" y="3105329"/>
              <a:ext cx="738188" cy="1752600"/>
            </a:xfrm>
            <a:custGeom>
              <a:avLst/>
              <a:gdLst>
                <a:gd name="connsiteX0" fmla="*/ 738188 w 738188"/>
                <a:gd name="connsiteY0" fmla="*/ 0 h 1752600"/>
                <a:gd name="connsiteX1" fmla="*/ 738188 w 738188"/>
                <a:gd name="connsiteY1" fmla="*/ 1133059 h 1752600"/>
                <a:gd name="connsiteX2" fmla="*/ 0 w 738188"/>
                <a:gd name="connsiteY2" fmla="*/ 1752600 h 1752600"/>
                <a:gd name="connsiteX3" fmla="*/ 738188 w 73818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8" h="1752600">
                  <a:moveTo>
                    <a:pt x="738188" y="0"/>
                  </a:moveTo>
                  <a:lnTo>
                    <a:pt x="738188" y="1133059"/>
                  </a:lnTo>
                  <a:lnTo>
                    <a:pt x="0" y="1752600"/>
                  </a:lnTo>
                  <a:lnTo>
                    <a:pt x="738188" y="0"/>
                  </a:lnTo>
                  <a:close/>
                </a:path>
              </a:pathLst>
            </a:custGeom>
            <a:solidFill>
              <a:srgbClr val="D69B84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706FC456-9D36-4A00-A2FA-7FF9B0F0C5CA}"/>
                </a:ext>
              </a:extLst>
            </p:cNvPr>
            <p:cNvSpPr/>
            <p:nvPr/>
          </p:nvSpPr>
          <p:spPr>
            <a:xfrm>
              <a:off x="11220450" y="3105329"/>
              <a:ext cx="738187" cy="1752600"/>
            </a:xfrm>
            <a:custGeom>
              <a:avLst/>
              <a:gdLst>
                <a:gd name="connsiteX0" fmla="*/ 0 w 738187"/>
                <a:gd name="connsiteY0" fmla="*/ 0 h 1752600"/>
                <a:gd name="connsiteX1" fmla="*/ 738187 w 738187"/>
                <a:gd name="connsiteY1" fmla="*/ 1752600 h 1752600"/>
                <a:gd name="connsiteX2" fmla="*/ 0 w 738187"/>
                <a:gd name="connsiteY2" fmla="*/ 1133059 h 1752600"/>
                <a:gd name="connsiteX3" fmla="*/ 0 w 738187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7" h="1752600">
                  <a:moveTo>
                    <a:pt x="0" y="0"/>
                  </a:moveTo>
                  <a:lnTo>
                    <a:pt x="738187" y="1752600"/>
                  </a:lnTo>
                  <a:lnTo>
                    <a:pt x="0" y="1133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7A5A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9D128BDC-3898-4B71-A506-9CD860D0A72A}"/>
              </a:ext>
            </a:extLst>
          </p:cNvPr>
          <p:cNvGrpSpPr/>
          <p:nvPr/>
        </p:nvGrpSpPr>
        <p:grpSpPr>
          <a:xfrm rot="3302594">
            <a:off x="9037927" y="1425081"/>
            <a:ext cx="1476375" cy="1752600"/>
            <a:chOff x="10482262" y="3105329"/>
            <a:chExt cx="1476375" cy="1752600"/>
          </a:xfrm>
          <a:effectLst>
            <a:outerShdw blurRad="381000" dist="508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C40F4CAB-0EF4-463D-A15E-B1B813138EEB}"/>
                </a:ext>
              </a:extLst>
            </p:cNvPr>
            <p:cNvSpPr/>
            <p:nvPr/>
          </p:nvSpPr>
          <p:spPr>
            <a:xfrm>
              <a:off x="10482262" y="3105329"/>
              <a:ext cx="738188" cy="1752600"/>
            </a:xfrm>
            <a:custGeom>
              <a:avLst/>
              <a:gdLst>
                <a:gd name="connsiteX0" fmla="*/ 738188 w 738188"/>
                <a:gd name="connsiteY0" fmla="*/ 0 h 1752600"/>
                <a:gd name="connsiteX1" fmla="*/ 738188 w 738188"/>
                <a:gd name="connsiteY1" fmla="*/ 1133059 h 1752600"/>
                <a:gd name="connsiteX2" fmla="*/ 0 w 738188"/>
                <a:gd name="connsiteY2" fmla="*/ 1752600 h 1752600"/>
                <a:gd name="connsiteX3" fmla="*/ 738188 w 73818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8" h="1752600">
                  <a:moveTo>
                    <a:pt x="738188" y="0"/>
                  </a:moveTo>
                  <a:lnTo>
                    <a:pt x="738188" y="1133059"/>
                  </a:lnTo>
                  <a:lnTo>
                    <a:pt x="0" y="1752600"/>
                  </a:lnTo>
                  <a:lnTo>
                    <a:pt x="738188" y="0"/>
                  </a:lnTo>
                  <a:close/>
                </a:path>
              </a:pathLst>
            </a:custGeom>
            <a:solidFill>
              <a:srgbClr val="D69B84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B7290BF-2740-44DC-BC7C-C3DD622787A1}"/>
                </a:ext>
              </a:extLst>
            </p:cNvPr>
            <p:cNvSpPr/>
            <p:nvPr/>
          </p:nvSpPr>
          <p:spPr>
            <a:xfrm>
              <a:off x="11220450" y="3105329"/>
              <a:ext cx="738187" cy="1752600"/>
            </a:xfrm>
            <a:custGeom>
              <a:avLst/>
              <a:gdLst>
                <a:gd name="connsiteX0" fmla="*/ 0 w 738187"/>
                <a:gd name="connsiteY0" fmla="*/ 0 h 1752600"/>
                <a:gd name="connsiteX1" fmla="*/ 738187 w 738187"/>
                <a:gd name="connsiteY1" fmla="*/ 1752600 h 1752600"/>
                <a:gd name="connsiteX2" fmla="*/ 0 w 738187"/>
                <a:gd name="connsiteY2" fmla="*/ 1133059 h 1752600"/>
                <a:gd name="connsiteX3" fmla="*/ 0 w 738187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7" h="1752600">
                  <a:moveTo>
                    <a:pt x="0" y="0"/>
                  </a:moveTo>
                  <a:lnTo>
                    <a:pt x="738187" y="1752600"/>
                  </a:lnTo>
                  <a:lnTo>
                    <a:pt x="0" y="1133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7A5A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BF6DF6EA-575A-4671-AEA9-27ADE0E2A719}"/>
              </a:ext>
            </a:extLst>
          </p:cNvPr>
          <p:cNvGrpSpPr/>
          <p:nvPr/>
        </p:nvGrpSpPr>
        <p:grpSpPr>
          <a:xfrm rot="4679747">
            <a:off x="1885119" y="3469730"/>
            <a:ext cx="1476375" cy="1752600"/>
            <a:chOff x="10482262" y="3105329"/>
            <a:chExt cx="1476375" cy="1752600"/>
          </a:xfrm>
          <a:effectLst>
            <a:outerShdw blurRad="381000" dist="508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4" name="Полилиния: фигура 63">
              <a:extLst>
                <a:ext uri="{FF2B5EF4-FFF2-40B4-BE49-F238E27FC236}">
                  <a16:creationId xmlns:a16="http://schemas.microsoft.com/office/drawing/2014/main" id="{F8501C9C-ABB4-4054-A0B3-B6B047EBA839}"/>
                </a:ext>
              </a:extLst>
            </p:cNvPr>
            <p:cNvSpPr/>
            <p:nvPr/>
          </p:nvSpPr>
          <p:spPr>
            <a:xfrm>
              <a:off x="10482262" y="3105329"/>
              <a:ext cx="738188" cy="1752600"/>
            </a:xfrm>
            <a:custGeom>
              <a:avLst/>
              <a:gdLst>
                <a:gd name="connsiteX0" fmla="*/ 738188 w 738188"/>
                <a:gd name="connsiteY0" fmla="*/ 0 h 1752600"/>
                <a:gd name="connsiteX1" fmla="*/ 738188 w 738188"/>
                <a:gd name="connsiteY1" fmla="*/ 1133059 h 1752600"/>
                <a:gd name="connsiteX2" fmla="*/ 0 w 738188"/>
                <a:gd name="connsiteY2" fmla="*/ 1752600 h 1752600"/>
                <a:gd name="connsiteX3" fmla="*/ 738188 w 738188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8" h="1752600">
                  <a:moveTo>
                    <a:pt x="738188" y="0"/>
                  </a:moveTo>
                  <a:lnTo>
                    <a:pt x="738188" y="1133059"/>
                  </a:lnTo>
                  <a:lnTo>
                    <a:pt x="0" y="1752600"/>
                  </a:lnTo>
                  <a:lnTo>
                    <a:pt x="738188" y="0"/>
                  </a:lnTo>
                  <a:close/>
                </a:path>
              </a:pathLst>
            </a:custGeom>
            <a:solidFill>
              <a:srgbClr val="D69B84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65" name="Полилиния: фигура 64">
              <a:extLst>
                <a:ext uri="{FF2B5EF4-FFF2-40B4-BE49-F238E27FC236}">
                  <a16:creationId xmlns:a16="http://schemas.microsoft.com/office/drawing/2014/main" id="{6D197A22-DCE1-4322-9AE2-3944F669F25A}"/>
                </a:ext>
              </a:extLst>
            </p:cNvPr>
            <p:cNvSpPr/>
            <p:nvPr/>
          </p:nvSpPr>
          <p:spPr>
            <a:xfrm>
              <a:off x="11220450" y="3105329"/>
              <a:ext cx="738187" cy="1752600"/>
            </a:xfrm>
            <a:custGeom>
              <a:avLst/>
              <a:gdLst>
                <a:gd name="connsiteX0" fmla="*/ 0 w 738187"/>
                <a:gd name="connsiteY0" fmla="*/ 0 h 1752600"/>
                <a:gd name="connsiteX1" fmla="*/ 738187 w 738187"/>
                <a:gd name="connsiteY1" fmla="*/ 1752600 h 1752600"/>
                <a:gd name="connsiteX2" fmla="*/ 0 w 738187"/>
                <a:gd name="connsiteY2" fmla="*/ 1133059 h 1752600"/>
                <a:gd name="connsiteX3" fmla="*/ 0 w 738187"/>
                <a:gd name="connsiteY3" fmla="*/ 0 h 175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7" h="1752600">
                  <a:moveTo>
                    <a:pt x="0" y="0"/>
                  </a:moveTo>
                  <a:lnTo>
                    <a:pt x="738187" y="1752600"/>
                  </a:lnTo>
                  <a:lnTo>
                    <a:pt x="0" y="1133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7A5A"/>
            </a:solidFill>
            <a:ln w="3175">
              <a:solidFill>
                <a:srgbClr val="C87A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12FEA62D-CAFC-447E-975F-451842ED1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101" y="4130418"/>
            <a:ext cx="914400" cy="914400"/>
          </a:xfrm>
          <a:prstGeom prst="rect">
            <a:avLst/>
          </a:prstGeom>
        </p:spPr>
      </p:pic>
      <p:pic>
        <p:nvPicPr>
          <p:cNvPr id="33" name="Рисунок 32" descr="Лампочка со сплошной заливкой">
            <a:extLst>
              <a:ext uri="{FF2B5EF4-FFF2-40B4-BE49-F238E27FC236}">
                <a16:creationId xmlns:a16="http://schemas.microsoft.com/office/drawing/2014/main" id="{966D5EFA-BFC9-4394-B015-B5C7E3573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774" y="1769895"/>
            <a:ext cx="914400" cy="914400"/>
          </a:xfrm>
          <a:prstGeom prst="rect">
            <a:avLst/>
          </a:prstGeom>
        </p:spPr>
      </p:pic>
      <p:pic>
        <p:nvPicPr>
          <p:cNvPr id="39" name="Рисунок 38" descr="Исследование со сплошной заливкой">
            <a:extLst>
              <a:ext uri="{FF2B5EF4-FFF2-40B4-BE49-F238E27FC236}">
                <a16:creationId xmlns:a16="http://schemas.microsoft.com/office/drawing/2014/main" id="{D9EE1B87-B01D-4044-9EBD-ACB141716A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3108" y="470486"/>
            <a:ext cx="914400" cy="914400"/>
          </a:xfrm>
          <a:prstGeom prst="rect">
            <a:avLst/>
          </a:prstGeom>
        </p:spPr>
      </p:pic>
      <p:pic>
        <p:nvPicPr>
          <p:cNvPr id="43" name="Рисунок 42" descr="Статистика со сплошной заливкой">
            <a:extLst>
              <a:ext uri="{FF2B5EF4-FFF2-40B4-BE49-F238E27FC236}">
                <a16:creationId xmlns:a16="http://schemas.microsoft.com/office/drawing/2014/main" id="{8FB1602D-DFA3-4326-899A-8018B4C9CC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07642" y="5514573"/>
            <a:ext cx="914400" cy="9144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9AE16F-5DF1-493B-BBE1-E1031D99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050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F22421-9055-4163-915C-92D1FE596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-893489"/>
            <a:ext cx="2162810" cy="9269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FF067F-7CE4-48DC-9E80-2AD69ECB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1905" y="412237"/>
            <a:ext cx="2037080" cy="8730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E495C5-9F26-424D-A5F8-20525721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1705942"/>
            <a:ext cx="1745828" cy="7482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64705E-3C69-43B0-B5FE-F2B56519F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2863108"/>
            <a:ext cx="1905000" cy="158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B2450-CB9D-4E40-A4A6-6FA95D081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4793461"/>
            <a:ext cx="2058307" cy="12349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74C618-D890-45C2-BE5F-D4E0C3A6E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3711525" y="6371298"/>
            <a:ext cx="2035282" cy="11630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08133807-3623-472A-833C-DE149F69D0D8}"/>
              </a:ext>
            </a:extLst>
          </p:cNvPr>
          <p:cNvGrpSpPr/>
          <p:nvPr/>
        </p:nvGrpSpPr>
        <p:grpSpPr>
          <a:xfrm>
            <a:off x="890903" y="412237"/>
            <a:ext cx="10955021" cy="6065520"/>
            <a:chOff x="890903" y="412237"/>
            <a:chExt cx="10955021" cy="6065520"/>
          </a:xfrm>
        </p:grpSpPr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624D8EBD-90B0-4078-B0ED-E50746432D9C}"/>
                </a:ext>
              </a:extLst>
            </p:cNvPr>
            <p:cNvGrpSpPr/>
            <p:nvPr/>
          </p:nvGrpSpPr>
          <p:grpSpPr>
            <a:xfrm>
              <a:off x="890903" y="412237"/>
              <a:ext cx="10955021" cy="6065520"/>
              <a:chOff x="903603" y="412237"/>
              <a:chExt cx="10955021" cy="606552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C7C14044-9AF3-43C0-A835-99327BA3E189}"/>
                  </a:ext>
                </a:extLst>
              </p:cNvPr>
              <p:cNvSpPr/>
              <p:nvPr/>
            </p:nvSpPr>
            <p:spPr>
              <a:xfrm>
                <a:off x="903604" y="412237"/>
                <a:ext cx="10955020" cy="6065520"/>
              </a:xfrm>
              <a:prstGeom prst="roundRect">
                <a:avLst/>
              </a:prstGeom>
              <a:solidFill>
                <a:srgbClr val="F2E6D6"/>
              </a:solidFill>
              <a:ln>
                <a:solidFill>
                  <a:srgbClr val="3E2E2A"/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Прямоугольник: усеченные верхние углы 36">
                <a:extLst>
                  <a:ext uri="{FF2B5EF4-FFF2-40B4-BE49-F238E27FC236}">
                    <a16:creationId xmlns:a16="http://schemas.microsoft.com/office/drawing/2014/main" id="{8DDAEACB-9E0A-4132-90D7-3F6309DAA5B6}"/>
                  </a:ext>
                </a:extLst>
              </p:cNvPr>
              <p:cNvSpPr/>
              <p:nvPr/>
            </p:nvSpPr>
            <p:spPr>
              <a:xfrm rot="5400000">
                <a:off x="-821950" y="2949320"/>
                <a:ext cx="4365503" cy="914398"/>
              </a:xfrm>
              <a:prstGeom prst="snip2SameRect">
                <a:avLst>
                  <a:gd name="adj1" fmla="val 50000"/>
                  <a:gd name="adj2" fmla="val 0"/>
                </a:avLst>
              </a:prstGeom>
              <a:solidFill>
                <a:srgbClr val="3E2E2A"/>
              </a:solidFill>
              <a:ln>
                <a:solidFill>
                  <a:srgbClr val="3E2E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41" name="Рисунок 40" descr="Линейчатая диаграмма со сплошной заливкой">
              <a:extLst>
                <a:ext uri="{FF2B5EF4-FFF2-40B4-BE49-F238E27FC236}">
                  <a16:creationId xmlns:a16="http://schemas.microsoft.com/office/drawing/2014/main" id="{ECB3503B-8E76-4F6B-B958-85F3A3C68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1881" y="4720730"/>
              <a:ext cx="497840" cy="497840"/>
            </a:xfrm>
            <a:prstGeom prst="rect">
              <a:avLst/>
            </a:prstGeom>
          </p:spPr>
        </p:pic>
        <p:pic>
          <p:nvPicPr>
            <p:cNvPr id="43" name="Рисунок 42" descr="Диаграмма с подъемом со сплошной заливкой">
              <a:extLst>
                <a:ext uri="{FF2B5EF4-FFF2-40B4-BE49-F238E27FC236}">
                  <a16:creationId xmlns:a16="http://schemas.microsoft.com/office/drawing/2014/main" id="{2EAC8598-DAC0-4D87-BECF-0587217EE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11881" y="3996808"/>
              <a:ext cx="497840" cy="497840"/>
            </a:xfrm>
            <a:prstGeom prst="rect">
              <a:avLst/>
            </a:prstGeom>
          </p:spPr>
        </p:pic>
        <p:pic>
          <p:nvPicPr>
            <p:cNvPr id="45" name="Рисунок 44" descr="График тенденции к понижению со сплошной заливкой">
              <a:extLst>
                <a:ext uri="{FF2B5EF4-FFF2-40B4-BE49-F238E27FC236}">
                  <a16:creationId xmlns:a16="http://schemas.microsoft.com/office/drawing/2014/main" id="{501F839B-2B73-4E7E-ACB0-FEB20AE57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7167" y="3213336"/>
              <a:ext cx="497840" cy="497840"/>
            </a:xfrm>
            <a:prstGeom prst="rect">
              <a:avLst/>
            </a:prstGeom>
          </p:spPr>
        </p:pic>
        <p:pic>
          <p:nvPicPr>
            <p:cNvPr id="47" name="Рисунок 46" descr="Круговая диаграмма со сплошной заливкой">
              <a:extLst>
                <a:ext uri="{FF2B5EF4-FFF2-40B4-BE49-F238E27FC236}">
                  <a16:creationId xmlns:a16="http://schemas.microsoft.com/office/drawing/2014/main" id="{620481FB-6E59-4296-A856-D5160388F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11881" y="2404346"/>
              <a:ext cx="497840" cy="497840"/>
            </a:xfrm>
            <a:prstGeom prst="rect">
              <a:avLst/>
            </a:prstGeom>
          </p:spPr>
        </p:pic>
        <p:pic>
          <p:nvPicPr>
            <p:cNvPr id="49" name="Рисунок 48" descr="Статистика со сплошной заливкой">
              <a:extLst>
                <a:ext uri="{FF2B5EF4-FFF2-40B4-BE49-F238E27FC236}">
                  <a16:creationId xmlns:a16="http://schemas.microsoft.com/office/drawing/2014/main" id="{EE660F8A-8AD3-43AE-BDA0-BD295532D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11881" y="1705942"/>
              <a:ext cx="497840" cy="497840"/>
            </a:xfrm>
            <a:prstGeom prst="rect">
              <a:avLst/>
            </a:prstGeom>
          </p:spPr>
        </p:pic>
      </p:grp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2135A51-7AF4-4CB2-B63A-47E6D2A693B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173" y="555108"/>
            <a:ext cx="5093970" cy="2546985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FAEEB3CC-64EC-40C8-86DB-9B73FE6BF97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9" y="3165969"/>
            <a:ext cx="6186415" cy="309320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B471B1-BA35-4614-A250-A90E1D8D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922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F22421-9055-4163-915C-92D1FE596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-893489"/>
            <a:ext cx="2162810" cy="9269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FF067F-7CE4-48DC-9E80-2AD69ECB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1905" y="412237"/>
            <a:ext cx="2037080" cy="8730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E495C5-9F26-424D-A5F8-20525721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1705942"/>
            <a:ext cx="1745828" cy="7482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64705E-3C69-43B0-B5FE-F2B56519F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2863108"/>
            <a:ext cx="1905000" cy="158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B2450-CB9D-4E40-A4A6-6FA95D081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4793461"/>
            <a:ext cx="2058307" cy="12349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74C618-D890-45C2-BE5F-D4E0C3A6E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3711525" y="6371298"/>
            <a:ext cx="2035282" cy="11630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08133807-3623-472A-833C-DE149F69D0D8}"/>
              </a:ext>
            </a:extLst>
          </p:cNvPr>
          <p:cNvGrpSpPr/>
          <p:nvPr/>
        </p:nvGrpSpPr>
        <p:grpSpPr>
          <a:xfrm>
            <a:off x="890903" y="412237"/>
            <a:ext cx="10955021" cy="6065520"/>
            <a:chOff x="890903" y="412237"/>
            <a:chExt cx="10955021" cy="6065520"/>
          </a:xfrm>
        </p:grpSpPr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624D8EBD-90B0-4078-B0ED-E50746432D9C}"/>
                </a:ext>
              </a:extLst>
            </p:cNvPr>
            <p:cNvGrpSpPr/>
            <p:nvPr/>
          </p:nvGrpSpPr>
          <p:grpSpPr>
            <a:xfrm>
              <a:off x="890903" y="412237"/>
              <a:ext cx="10955021" cy="6065520"/>
              <a:chOff x="903603" y="412237"/>
              <a:chExt cx="10955021" cy="606552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C7C14044-9AF3-43C0-A835-99327BA3E189}"/>
                  </a:ext>
                </a:extLst>
              </p:cNvPr>
              <p:cNvSpPr/>
              <p:nvPr/>
            </p:nvSpPr>
            <p:spPr>
              <a:xfrm>
                <a:off x="903604" y="412237"/>
                <a:ext cx="10955020" cy="6065520"/>
              </a:xfrm>
              <a:prstGeom prst="roundRect">
                <a:avLst/>
              </a:prstGeom>
              <a:solidFill>
                <a:srgbClr val="F2E6D6"/>
              </a:solidFill>
              <a:ln>
                <a:solidFill>
                  <a:srgbClr val="3E2E2A"/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Прямоугольник: усеченные верхние углы 36">
                <a:extLst>
                  <a:ext uri="{FF2B5EF4-FFF2-40B4-BE49-F238E27FC236}">
                    <a16:creationId xmlns:a16="http://schemas.microsoft.com/office/drawing/2014/main" id="{8DDAEACB-9E0A-4132-90D7-3F6309DAA5B6}"/>
                  </a:ext>
                </a:extLst>
              </p:cNvPr>
              <p:cNvSpPr/>
              <p:nvPr/>
            </p:nvSpPr>
            <p:spPr>
              <a:xfrm rot="5400000">
                <a:off x="-821950" y="2949320"/>
                <a:ext cx="4365503" cy="914398"/>
              </a:xfrm>
              <a:prstGeom prst="snip2SameRect">
                <a:avLst>
                  <a:gd name="adj1" fmla="val 50000"/>
                  <a:gd name="adj2" fmla="val 0"/>
                </a:avLst>
              </a:prstGeom>
              <a:solidFill>
                <a:srgbClr val="3E2E2A"/>
              </a:solidFill>
              <a:ln>
                <a:solidFill>
                  <a:srgbClr val="3E2E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41" name="Рисунок 40" descr="Линейчатая диаграмма со сплошной заливкой">
              <a:extLst>
                <a:ext uri="{FF2B5EF4-FFF2-40B4-BE49-F238E27FC236}">
                  <a16:creationId xmlns:a16="http://schemas.microsoft.com/office/drawing/2014/main" id="{ECB3503B-8E76-4F6B-B958-85F3A3C68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1881" y="4720730"/>
              <a:ext cx="497840" cy="497840"/>
            </a:xfrm>
            <a:prstGeom prst="rect">
              <a:avLst/>
            </a:prstGeom>
          </p:spPr>
        </p:pic>
        <p:pic>
          <p:nvPicPr>
            <p:cNvPr id="43" name="Рисунок 42" descr="Диаграмма с подъемом со сплошной заливкой">
              <a:extLst>
                <a:ext uri="{FF2B5EF4-FFF2-40B4-BE49-F238E27FC236}">
                  <a16:creationId xmlns:a16="http://schemas.microsoft.com/office/drawing/2014/main" id="{2EAC8598-DAC0-4D87-BECF-0587217EE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11881" y="3996808"/>
              <a:ext cx="497840" cy="497840"/>
            </a:xfrm>
            <a:prstGeom prst="rect">
              <a:avLst/>
            </a:prstGeom>
          </p:spPr>
        </p:pic>
        <p:pic>
          <p:nvPicPr>
            <p:cNvPr id="45" name="Рисунок 44" descr="График тенденции к понижению со сплошной заливкой">
              <a:extLst>
                <a:ext uri="{FF2B5EF4-FFF2-40B4-BE49-F238E27FC236}">
                  <a16:creationId xmlns:a16="http://schemas.microsoft.com/office/drawing/2014/main" id="{501F839B-2B73-4E7E-ACB0-FEB20AE57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7167" y="3213336"/>
              <a:ext cx="497840" cy="497840"/>
            </a:xfrm>
            <a:prstGeom prst="rect">
              <a:avLst/>
            </a:prstGeom>
          </p:spPr>
        </p:pic>
        <p:pic>
          <p:nvPicPr>
            <p:cNvPr id="47" name="Рисунок 46" descr="Круговая диаграмма со сплошной заливкой">
              <a:extLst>
                <a:ext uri="{FF2B5EF4-FFF2-40B4-BE49-F238E27FC236}">
                  <a16:creationId xmlns:a16="http://schemas.microsoft.com/office/drawing/2014/main" id="{620481FB-6E59-4296-A856-D5160388F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11881" y="2404346"/>
              <a:ext cx="497840" cy="497840"/>
            </a:xfrm>
            <a:prstGeom prst="rect">
              <a:avLst/>
            </a:prstGeom>
          </p:spPr>
        </p:pic>
        <p:pic>
          <p:nvPicPr>
            <p:cNvPr id="49" name="Рисунок 48" descr="Статистика со сплошной заливкой">
              <a:extLst>
                <a:ext uri="{FF2B5EF4-FFF2-40B4-BE49-F238E27FC236}">
                  <a16:creationId xmlns:a16="http://schemas.microsoft.com/office/drawing/2014/main" id="{EE660F8A-8AD3-43AE-BDA0-BD295532D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11881" y="1705942"/>
              <a:ext cx="497840" cy="497840"/>
            </a:xfrm>
            <a:prstGeom prst="rect">
              <a:avLst/>
            </a:prstGeom>
          </p:spPr>
        </p:pic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B8509C-C8A0-4200-AE7B-9F6AF24CA0A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734" y="712778"/>
            <a:ext cx="7939109" cy="264213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BFC862-E9B5-48DE-AD66-01E3DE22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18</a:t>
            </a:fld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99A1E95-B9A5-408E-86C2-A92209B134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131" y="3534564"/>
            <a:ext cx="7294314" cy="26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88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F22421-9055-4163-915C-92D1FE596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-893489"/>
            <a:ext cx="2162810" cy="9269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FF067F-7CE4-48DC-9E80-2AD69ECB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1905" y="412237"/>
            <a:ext cx="2037080" cy="8730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E495C5-9F26-424D-A5F8-20525721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1705942"/>
            <a:ext cx="1745828" cy="7482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64705E-3C69-43B0-B5FE-F2B56519F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2863108"/>
            <a:ext cx="1905000" cy="158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B2450-CB9D-4E40-A4A6-6FA95D081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4793461"/>
            <a:ext cx="2058307" cy="12349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74C618-D890-45C2-BE5F-D4E0C3A6E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3711525" y="6371298"/>
            <a:ext cx="2035282" cy="11630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2C7C6B-9312-45AE-B497-2A400E6DB06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819" y="707490"/>
            <a:ext cx="7854947" cy="261831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F8C5D3-D87C-400D-905E-92308501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19</a:t>
            </a:fld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97CFC35-3024-4924-ABA6-602082F5F2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819" y="3318571"/>
            <a:ext cx="8602172" cy="309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5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DBEDCC-C9CB-4E52-93B7-DB27A49C41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527" y="522703"/>
            <a:ext cx="5213586" cy="295319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9E9000-CD9D-4B7D-92A9-1F9656E1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20</a:t>
            </a:fld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BFA174F-AD6E-4156-B899-67CC916D45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371" y="3451626"/>
            <a:ext cx="8389486" cy="288367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95D8739-F216-472B-8531-3EB95AB8A8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40" y="522703"/>
            <a:ext cx="4775484" cy="268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84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80AFE77-BBAA-46C9-A1D3-EE5173ECBA4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670" y="545173"/>
            <a:ext cx="6991350" cy="582612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964A10B-95B2-4A72-A8C9-43F30E48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994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C7BC6F2-5F34-474A-8949-8DCD25A83E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462643"/>
            <a:ext cx="10382250" cy="593271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B58B33A-92BE-48A5-B4A6-2A3A8F26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67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7EBB7F-764B-4237-A501-E20EF7566D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278" y="884653"/>
            <a:ext cx="8854730" cy="508869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33D903-26EE-469F-A903-6ADD2822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3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DF1775-8138-4F38-95F3-7285783865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278" y="544760"/>
            <a:ext cx="5835574" cy="285777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61EAE4-B893-4365-84E2-4A92238B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24</a:t>
            </a:fld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AADFEF7-8400-4CF1-B813-0F154CF2AE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603" y="3386399"/>
            <a:ext cx="6251675" cy="298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8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F22421-9055-4163-915C-92D1FE596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-893489"/>
            <a:ext cx="2162810" cy="9269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FF067F-7CE4-48DC-9E80-2AD69ECB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1905" y="412237"/>
            <a:ext cx="2037080" cy="8730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E495C5-9F26-424D-A5F8-20525721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1705942"/>
            <a:ext cx="1745828" cy="7482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64705E-3C69-43B0-B5FE-F2B56519F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2863108"/>
            <a:ext cx="1905000" cy="158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B2450-CB9D-4E40-A4A6-6FA95D081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4793461"/>
            <a:ext cx="2058307" cy="12349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74C618-D890-45C2-BE5F-D4E0C3A6E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3711525" y="6371298"/>
            <a:ext cx="2035282" cy="11630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880AB37-CD13-4D58-8F60-E73F7E1DEBE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632" y="571937"/>
            <a:ext cx="9410267" cy="286228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9D686FC-3D1C-4CDB-8CA1-2F38BE64168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403" y="4092876"/>
            <a:ext cx="2156203" cy="125570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D2B686-401A-4E08-B7E7-30029FDA4D3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04952" y="3593926"/>
            <a:ext cx="3718882" cy="244623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D30447-A37A-4172-B66D-2D733785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150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F22421-9055-4163-915C-92D1FE596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-893489"/>
            <a:ext cx="2162810" cy="9269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FF067F-7CE4-48DC-9E80-2AD69ECB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1905" y="412237"/>
            <a:ext cx="2037080" cy="8730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E495C5-9F26-424D-A5F8-205257212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1705942"/>
            <a:ext cx="1745828" cy="7482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64705E-3C69-43B0-B5FE-F2B56519F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383" y="2863108"/>
            <a:ext cx="1905000" cy="158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B2450-CB9D-4E40-A4A6-6FA95D081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4793461"/>
            <a:ext cx="2058307" cy="12349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74C618-D890-45C2-BE5F-D4E0C3A6E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3711525" y="6371298"/>
            <a:ext cx="2035282" cy="11630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5D1858-800C-4ABA-8528-38E73284B9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7635" y="7958798"/>
            <a:ext cx="2489201" cy="16594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73D758-A1D3-46B6-80A0-EE1C890A7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8738" y="10042747"/>
            <a:ext cx="2209800" cy="1289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70BB2-98EF-4175-A669-4E3CBAF00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3037" y="11756279"/>
            <a:ext cx="2455333" cy="14732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F09D652-D06E-4164-8A41-70AD5F9B9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9264" y="13764340"/>
            <a:ext cx="2227786" cy="1299542"/>
          </a:xfrm>
          <a:prstGeom prst="rect">
            <a:avLst/>
          </a:prstGeom>
        </p:spPr>
      </p:pic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24D8EBD-90B0-4078-B0ED-E50746432D9C}"/>
              </a:ext>
            </a:extLst>
          </p:cNvPr>
          <p:cNvGrpSpPr/>
          <p:nvPr/>
        </p:nvGrpSpPr>
        <p:grpSpPr>
          <a:xfrm>
            <a:off x="903603" y="412237"/>
            <a:ext cx="10955021" cy="6065520"/>
            <a:chOff x="903603" y="412237"/>
            <a:chExt cx="10955021" cy="60655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C7C14044-9AF3-43C0-A835-99327BA3E189}"/>
                </a:ext>
              </a:extLst>
            </p:cNvPr>
            <p:cNvSpPr/>
            <p:nvPr/>
          </p:nvSpPr>
          <p:spPr>
            <a:xfrm>
              <a:off x="903604" y="412237"/>
              <a:ext cx="10955020" cy="6065520"/>
            </a:xfrm>
            <a:prstGeom prst="roundRect">
              <a:avLst/>
            </a:prstGeom>
            <a:solidFill>
              <a:srgbClr val="F2E6D6"/>
            </a:solidFill>
            <a:ln>
              <a:solidFill>
                <a:srgbClr val="3E2E2A"/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усеченные верхние углы 36">
              <a:extLst>
                <a:ext uri="{FF2B5EF4-FFF2-40B4-BE49-F238E27FC236}">
                  <a16:creationId xmlns:a16="http://schemas.microsoft.com/office/drawing/2014/main" id="{8DDAEACB-9E0A-4132-90D7-3F6309DAA5B6}"/>
                </a:ext>
              </a:extLst>
            </p:cNvPr>
            <p:cNvSpPr/>
            <p:nvPr/>
          </p:nvSpPr>
          <p:spPr>
            <a:xfrm rot="5400000">
              <a:off x="-821950" y="2949320"/>
              <a:ext cx="4365503" cy="91439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rgbClr val="3E2E2A"/>
            </a:solidFill>
            <a:ln>
              <a:solidFill>
                <a:srgbClr val="3E2E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1" name="Рисунок 40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ECB3503B-8E76-4F6B-B958-85F3A3C680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1881" y="4720730"/>
            <a:ext cx="497840" cy="497840"/>
          </a:xfrm>
          <a:prstGeom prst="rect">
            <a:avLst/>
          </a:prstGeom>
        </p:spPr>
      </p:pic>
      <p:pic>
        <p:nvPicPr>
          <p:cNvPr id="43" name="Рисунок 42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2EAC8598-DAC0-4D87-BECF-0587217EEC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881" y="3996808"/>
            <a:ext cx="497840" cy="497840"/>
          </a:xfrm>
          <a:prstGeom prst="rect">
            <a:avLst/>
          </a:prstGeom>
        </p:spPr>
      </p:pic>
      <p:pic>
        <p:nvPicPr>
          <p:cNvPr id="45" name="Рисунок 44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501F839B-2B73-4E7E-ACB0-FEB20AE570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17167" y="3213336"/>
            <a:ext cx="497840" cy="497840"/>
          </a:xfrm>
          <a:prstGeom prst="rect">
            <a:avLst/>
          </a:prstGeom>
        </p:spPr>
      </p:pic>
      <p:pic>
        <p:nvPicPr>
          <p:cNvPr id="47" name="Рисунок 46" descr="Круговая диаграмма со сплошной заливкой">
            <a:extLst>
              <a:ext uri="{FF2B5EF4-FFF2-40B4-BE49-F238E27FC236}">
                <a16:creationId xmlns:a16="http://schemas.microsoft.com/office/drawing/2014/main" id="{620481FB-6E59-4296-A856-D5160388F38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1881" y="2404346"/>
            <a:ext cx="497840" cy="497840"/>
          </a:xfrm>
          <a:prstGeom prst="rect">
            <a:avLst/>
          </a:prstGeom>
        </p:spPr>
      </p:pic>
      <p:pic>
        <p:nvPicPr>
          <p:cNvPr id="49" name="Рисунок 48" descr="Статистика со сплошной заливкой">
            <a:extLst>
              <a:ext uri="{FF2B5EF4-FFF2-40B4-BE49-F238E27FC236}">
                <a16:creationId xmlns:a16="http://schemas.microsoft.com/office/drawing/2014/main" id="{EE660F8A-8AD3-43AE-BDA0-BD295532D1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1881" y="1705942"/>
            <a:ext cx="497840" cy="49784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D30447-A37A-4172-B66D-2D733785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12B33-056B-4A61-8B10-FDCD7BD6D3AF}" type="slidenum">
              <a:rPr lang="ru-RU" smtClean="0"/>
              <a:t>26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E8CA-0DCE-48D4-AC5F-F0321F8280B5}"/>
              </a:ext>
            </a:extLst>
          </p:cNvPr>
          <p:cNvSpPr txBox="1"/>
          <p:nvPr/>
        </p:nvSpPr>
        <p:spPr>
          <a:xfrm>
            <a:off x="2548257" y="365097"/>
            <a:ext cx="8580111" cy="6442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u="sng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Я разработала продукт, который автоматизирует рабочий процесс для проведения разведочного анализа данных. </a:t>
            </a:r>
            <a:r>
              <a:rPr lang="ru-RU" sz="1800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Разведочный анализ данных является неотъемлемой частью успешного анализа данных и позволяет сделать первые выводы, идентифицировать интересные тренды и подготовить данные для последующих этапов работы.  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Мой </a:t>
            </a:r>
            <a:r>
              <a:rPr lang="ru-RU" sz="1800" dirty="0" err="1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промпт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является шаблоном для любого запроса. В ходе выполнения итоговой аттестационной работы была достигнута главная цель: сформированы устойчивые практические навыки загрузки, обработки, статистического анализа и визуализации данных из файлов Excel с использованием функциональных возможностей </a:t>
            </a:r>
            <a:r>
              <a:rPr lang="ru-RU" sz="1800" dirty="0" err="1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Qwen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Studio, включая автоматическую генерацию аналитических отчётов исключительно посредством </a:t>
            </a:r>
            <a:r>
              <a:rPr lang="ru-RU" sz="1800" dirty="0" err="1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промпт</a:t>
            </a:r>
            <a:r>
              <a:rPr lang="ru-RU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-инжиниринга, без написания программного кода вручную. Ссылка на мой </a:t>
            </a:r>
            <a:r>
              <a:rPr lang="en-US" sz="1800" dirty="0"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GitHub 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https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://</a:t>
            </a:r>
            <a:r>
              <a:rPr lang="en-US" sz="1800" u="none" strike="noStrike" dirty="0" err="1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github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.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com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/</a:t>
            </a:r>
            <a:r>
              <a:rPr lang="en-US" sz="1800" u="none" strike="noStrike" dirty="0" err="1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svetnoch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/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diploma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-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analysis</a:t>
            </a:r>
            <a:r>
              <a:rPr lang="ru-RU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.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git</a:t>
            </a:r>
            <a:endParaRPr lang="ru-RU" sz="1800" dirty="0"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4579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1181</Words>
  <Application>Microsoft Office PowerPoint</Application>
  <PresentationFormat>Широкоэкранный</PresentationFormat>
  <Paragraphs>181</Paragraphs>
  <Slides>26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Inter</vt:lpstr>
      <vt:lpstr>Lora</vt:lpstr>
      <vt:lpstr>Segoe UI</vt:lpstr>
      <vt:lpstr>Times New Roman</vt:lpstr>
      <vt:lpstr>Times New Roman Cyr</vt:lpstr>
      <vt:lpstr>Тема Office</vt:lpstr>
      <vt:lpstr>Презентация PowerPoint</vt:lpstr>
      <vt:lpstr>Презентация PowerPoint</vt:lpstr>
      <vt:lpstr>Автоматизация анализа данных Excel в Qwen Studio</vt:lpstr>
      <vt:lpstr>Набор данных по рискам безопасности агентного ИИ направлен на облегчение исследований в области безопасности, контроля доступа и прогнозирования рисков для автономных рабочих процессов агентов ИИ</vt:lpstr>
      <vt:lpstr>Qwen Studio от Alibaba — полноценный виртуальный напарник-разработчик для глубокого анализа данных. </vt:lpstr>
      <vt:lpstr>Крупнейшая облачная платформа для совместной разработки программного обеспечения, основанная на системе контроля версий Git</vt:lpstr>
      <vt:lpstr>приложение для Windows, которое эмулирует среду командной строки Linux/macOS. Название состоит из двух слов: Git (система контроля версий) и Bash (популярная командная оболочка)</vt:lpstr>
      <vt:lpstr>Excel от Microsoft по-прежнему остается самым популярным инструментом для хранения и первичной обработки табличных данных.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Светлана Супер</dc:creator>
  <cp:lastModifiedBy>Светлана Супер</cp:lastModifiedBy>
  <cp:revision>41</cp:revision>
  <dcterms:created xsi:type="dcterms:W3CDTF">2026-06-01T11:20:42Z</dcterms:created>
  <dcterms:modified xsi:type="dcterms:W3CDTF">2026-06-16T10:33:05Z</dcterms:modified>
</cp:coreProperties>
</file>